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4D2AF-8650-3FD5-3490-7414E47A1C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C7719-0291-C146-31E7-1BE925540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B04FC-FBD5-9BD1-BDD1-03B749DAF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321E4-F798-429F-8A29-2441BD685BC7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F4201-C64F-3771-B94E-8399BEF14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466EE-892A-A9E5-F1E4-3F99039C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73F16-84B1-4749-9435-9032D8F0D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25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51CB0-DFAF-E258-6E78-B497301AB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78458-11B9-C67E-6716-486DD3B18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DFA08-682C-679D-DD1F-7A3A8757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321E4-F798-429F-8A29-2441BD685BC7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9E698-7A86-8CDC-94AB-3C293E2A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2DB58-F56B-CD8B-EEF5-69B28BFBF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73F16-84B1-4749-9435-9032D8F0D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1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4290E-9BAD-53AD-00F0-CAF55C0CC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94C8C8-0BA0-F3A5-EE84-184A13D13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727EC-EA94-2370-66EC-5B694468A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321E4-F798-429F-8A29-2441BD685BC7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A7B55-9A8F-5A54-EF65-36AEED2AF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64E52-51CA-1CC9-2005-094DA1B7E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73F16-84B1-4749-9435-9032D8F0D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23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386C-BBDC-4944-71C8-46F317B9B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C309B-6943-EEC4-4953-D2FA9D18A3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003E6B-68B0-18DA-12A7-7948A8ABC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55E81-9756-CC9B-D4E3-CF13ACB7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321E4-F798-429F-8A29-2441BD685BC7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BDD1E-085D-6BFF-74DC-F893E9060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6D077-5C4B-4359-CE9F-2C966F68E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73F16-84B1-4749-9435-9032D8F0D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488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AF2DC-A03A-6845-085F-AF796765D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22144-D6AF-8648-2146-BEB80CB1E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48E27-5F04-C26F-7A7E-66BDEA140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BD9BAD-46BA-E355-57EB-56955D60DB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008C5-C4A4-0945-A4BD-04501DDD38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6582AE-E3AB-A3B2-04EA-964EC2D36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321E4-F798-429F-8A29-2441BD685BC7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FFF431-9BC8-C801-F48E-25B1C7C5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080010-71E5-CB8C-95F8-E982E26F2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73F16-84B1-4749-9435-9032D8F0D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903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C24B0-EAEA-082F-581F-87B95A051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F600D0-0469-CFC5-7EAA-BBF4DFFD6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321E4-F798-429F-8A29-2441BD685BC7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A8B04E-07B2-290C-2D51-C60B6F851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CB207-5F86-7C75-563A-5ADBA495C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73F16-84B1-4749-9435-9032D8F0D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047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00ED69-AA76-0071-E17C-562A789DA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321E4-F798-429F-8A29-2441BD685BC7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8436FF-8FB4-FC70-3388-FF1B03DFA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E5248-1EA8-F716-7862-C1E12645A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73F16-84B1-4749-9435-9032D8F0D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642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92D81-B9E2-1169-7CF6-B1A238E72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E870B-0BD9-D77A-765B-2F8217C0C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AD6B0-05EB-B1DD-D113-AC18978CB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B0AFD-2685-E479-A924-921BA544B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321E4-F798-429F-8A29-2441BD685BC7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E53E4-54AB-5CCC-8C61-8F70802CA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1A7FE-6C4A-17A7-5132-A6106B55D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73F16-84B1-4749-9435-9032D8F0D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257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4B07E-0444-6C9E-1BA7-16FA92F21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9F514-9DE0-AF39-6EC6-35E90D0E41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FB7EDA-447C-7B80-F62A-E75CD4E03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3C36A-D73E-4276-7A62-42A704270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321E4-F798-429F-8A29-2441BD685BC7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2FE62-EA7C-FF47-15F2-3E06408FC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BA82F-B297-FA65-B9C8-F7532ECB4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73F16-84B1-4749-9435-9032D8F0D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10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86165-6001-F52F-CF21-C84F88321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005DE-A763-7E4F-04A7-7FD6D9B28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A5D42-3D34-71A7-8D9B-19AA32B29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321E4-F798-429F-8A29-2441BD685BC7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3637D-D347-5737-B3B6-8FDBC501F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90330-3233-707C-90E5-04EEC26E5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73F16-84B1-4749-9435-9032D8F0D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635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7EEA0B-1732-A12C-36CB-C23D437CEB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14495-8698-4030-F10B-ED348ED4C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C45BC-DBA0-97E6-7ABA-A93F7E9CF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321E4-F798-429F-8A29-2441BD685BC7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1B192-3668-FE30-4682-24C050C93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B8609-16A9-DC1C-8D03-A56ACACBB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73F16-84B1-4749-9435-9032D8F0D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188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FE94F6-9A8C-5239-8E37-6BBF75A09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6AC8C-813B-1E6E-484B-5760173B9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26B11-0BAB-C023-8DFF-A5B2856DA8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321E4-F798-429F-8A29-2441BD685BC7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4855-A06B-6E62-87D0-F466C2471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BF6C0-42AE-41FD-58AC-F5E1E231A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73F16-84B1-4749-9435-9032D8F0D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68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63ACC-FD08-5CC7-50D6-CBBF6BC42B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Microsoft Security Stack Checklists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2C167-5DE0-F30C-5BEB-38A8559170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831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B749B-E334-70BD-EC7E-33CAEA526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2" y="120029"/>
            <a:ext cx="11859705" cy="323032"/>
          </a:xfrm>
        </p:spPr>
        <p:txBody>
          <a:bodyPr>
            <a:noAutofit/>
          </a:bodyPr>
          <a:lstStyle/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Microsoft Cloud Solution Provider (CSP) Security Checklist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FAF3C5-A655-73AE-588F-0D84661FB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445" y="675554"/>
            <a:ext cx="5062979" cy="2633253"/>
          </a:xfrm>
          <a:prstGeom prst="round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</a:rPr>
              <a:t>Tenant security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1" dirty="0"/>
              <a:t>Security contact: Add monitored security email in Partner centre.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1" dirty="0"/>
              <a:t>Isolation: Use separate tenant for Partner centre tasks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1" dirty="0"/>
              <a:t>Secure score: Aim for 80% compliant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1" dirty="0"/>
              <a:t>Spend caps: Set monthly Azure budget alerts for every customer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1" dirty="0"/>
              <a:t>Tenant restrictions: Block access to unauthorized external tenants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2484122F-92B4-47F8-1FE3-0B9B52B961ED}"/>
              </a:ext>
            </a:extLst>
          </p:cNvPr>
          <p:cNvSpPr txBox="1">
            <a:spLocks/>
          </p:cNvSpPr>
          <p:nvPr/>
        </p:nvSpPr>
        <p:spPr>
          <a:xfrm>
            <a:off x="6096000" y="675554"/>
            <a:ext cx="5062979" cy="2633253"/>
          </a:xfrm>
          <a:prstGeom prst="round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</a:rPr>
              <a:t>Identity management and governance</a:t>
            </a:r>
          </a:p>
          <a:p>
            <a:pPr marL="0" indent="0">
              <a:buNone/>
            </a:pPr>
            <a:r>
              <a:rPr lang="en-US" sz="1400" b="1" dirty="0"/>
              <a:t>Phishing-Resistant MFA: Use FIDO2 or Windows Hello for all.</a:t>
            </a:r>
          </a:p>
          <a:p>
            <a:pPr marL="0" indent="0">
              <a:buNone/>
            </a:pPr>
            <a:r>
              <a:rPr lang="en-US" sz="1400" b="1" dirty="0"/>
              <a:t>GDAP Only: Delete all legacy DAP (Global Admin) connections.</a:t>
            </a:r>
          </a:p>
          <a:p>
            <a:pPr marL="0" indent="0">
              <a:buNone/>
            </a:pPr>
            <a:r>
              <a:rPr lang="en-US" sz="1400" b="1" dirty="0"/>
              <a:t>Just-In-Time (PIM): Activate admin roles only when needed.</a:t>
            </a:r>
          </a:p>
          <a:p>
            <a:pPr marL="0" indent="0">
              <a:buNone/>
            </a:pPr>
            <a:r>
              <a:rPr lang="en-US" sz="1400" b="1" dirty="0"/>
              <a:t>No Manual Accounts: Never create local admin users in customer tenants.</a:t>
            </a:r>
          </a:p>
          <a:p>
            <a:pPr marL="0" indent="0">
              <a:buNone/>
            </a:pPr>
            <a:r>
              <a:rPr lang="en-US" sz="1400" b="1" dirty="0"/>
              <a:t>Access Reviews: Audit and remove stale permissions quarterly.</a:t>
            </a:r>
            <a:endParaRPr lang="en-IN" sz="1400" b="1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B5C2BF24-AD2E-E911-4A61-ED0DAE1E0BF7}"/>
              </a:ext>
            </a:extLst>
          </p:cNvPr>
          <p:cNvSpPr txBox="1">
            <a:spLocks/>
          </p:cNvSpPr>
          <p:nvPr/>
        </p:nvSpPr>
        <p:spPr>
          <a:xfrm>
            <a:off x="302440" y="3731410"/>
            <a:ext cx="5062979" cy="2633253"/>
          </a:xfrm>
          <a:prstGeom prst="round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</a:rPr>
              <a:t>Apps and Devices security</a:t>
            </a:r>
          </a:p>
          <a:p>
            <a:pPr marL="0" indent="0">
              <a:buNone/>
            </a:pPr>
            <a:r>
              <a:rPr lang="en-US" sz="1400" b="1" dirty="0"/>
              <a:t>Managed Devices: Admins must use Intune-managed, healthy PCs.</a:t>
            </a:r>
          </a:p>
          <a:p>
            <a:pPr marL="0" indent="0">
              <a:buNone/>
            </a:pPr>
            <a:r>
              <a:rPr lang="en-US" sz="1400" b="1" dirty="0"/>
              <a:t>Secure App Model: Ensure all APIs/Tools use MFA-protected logins.</a:t>
            </a:r>
          </a:p>
          <a:p>
            <a:pPr marL="0" indent="0">
              <a:buNone/>
            </a:pPr>
            <a:r>
              <a:rPr lang="en-US" sz="1400" b="1" dirty="0"/>
              <a:t>App Consent: Block users from "Accepting Permissions" for 3rd-party apps.</a:t>
            </a:r>
          </a:p>
          <a:p>
            <a:pPr marL="0" indent="0">
              <a:buNone/>
            </a:pPr>
            <a:r>
              <a:rPr lang="en-US" sz="1400" b="1" dirty="0"/>
              <a:t>PAW: Use hardened workstations for high-level admin tasks.</a:t>
            </a:r>
          </a:p>
          <a:p>
            <a:pPr marL="0" indent="0">
              <a:buNone/>
            </a:pPr>
            <a:r>
              <a:rPr lang="en-US" sz="1400" b="1" dirty="0"/>
              <a:t>CPV Audit: Regularly check what your software vendors can access.</a:t>
            </a:r>
            <a:endParaRPr lang="en-IN" sz="1400" b="1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57D14ED6-FF66-3B37-6E15-4535E7A515AD}"/>
              </a:ext>
            </a:extLst>
          </p:cNvPr>
          <p:cNvSpPr txBox="1">
            <a:spLocks/>
          </p:cNvSpPr>
          <p:nvPr/>
        </p:nvSpPr>
        <p:spPr>
          <a:xfrm>
            <a:off x="6106995" y="3731410"/>
            <a:ext cx="5062979" cy="2633253"/>
          </a:xfrm>
          <a:prstGeom prst="round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</a:rPr>
              <a:t>Security monitoring and reporting</a:t>
            </a:r>
          </a:p>
          <a:p>
            <a:pPr marL="0" indent="0">
              <a:buNone/>
            </a:pPr>
            <a:r>
              <a:rPr lang="en-US" sz="1400" b="1" dirty="0"/>
              <a:t>Fraud Alerts: Check the Partner Center Fraud Dashboard daily.</a:t>
            </a:r>
          </a:p>
          <a:p>
            <a:pPr marL="0" indent="0">
              <a:buNone/>
            </a:pPr>
            <a:r>
              <a:rPr lang="en-US" sz="1400" b="1" dirty="0"/>
              <a:t>30-Day Logs: Ensure sign-in logs are kept for at least a month.</a:t>
            </a:r>
          </a:p>
          <a:p>
            <a:pPr marL="0" indent="0">
              <a:buNone/>
            </a:pPr>
            <a:r>
              <a:rPr lang="en-US" sz="1400" b="1" dirty="0"/>
              <a:t>Sentinel Sync: Connect logs to a SIEM for automated alerts.</a:t>
            </a:r>
          </a:p>
          <a:p>
            <a:pPr marL="0" indent="0">
              <a:buNone/>
            </a:pPr>
            <a:r>
              <a:rPr lang="en-US" sz="1400" b="1" dirty="0"/>
              <a:t>MFA Reports: Monthly check of customer MFA compliance.</a:t>
            </a:r>
          </a:p>
          <a:p>
            <a:pPr marL="0" indent="0">
              <a:buNone/>
            </a:pPr>
            <a:r>
              <a:rPr lang="en-US" sz="1400" b="1" dirty="0"/>
              <a:t>Break-Glass: Keep 2 "Emergency Access" accounts in case of lockout.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3439641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B881C-554C-4211-AD5C-7E3B1613E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89" y="138882"/>
            <a:ext cx="11812571" cy="542156"/>
          </a:xfrm>
        </p:spPr>
        <p:txBody>
          <a:bodyPr>
            <a:normAutofit fontScale="90000"/>
          </a:bodyPr>
          <a:lstStyle/>
          <a:p>
            <a:r>
              <a:rPr lang="en-IN" dirty="0"/>
              <a:t>Tenant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24FD7-C783-9488-0B56-88B401B68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9" y="801278"/>
            <a:ext cx="11812571" cy="5917840"/>
          </a:xfrm>
        </p:spPr>
        <p:txBody>
          <a:bodyPr>
            <a:normAutofit fontScale="70000" lnSpcReduction="20000"/>
          </a:bodyPr>
          <a:lstStyle/>
          <a:p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Building a secure foundation for your Partner and Customer environments.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Designated Security Contact: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Assign a monitored email address in Partner Center to receive critical security alerts.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Mandatory Secure Score: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Maintain a Partner Center Secure Score of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at least 80 points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remain compliant for authorization.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Tenant Separation: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Use a dedicated tenant for Partner Center that is separate from your internal corporate IT services.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Fraud Mitigation: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Conduct background checks and credit risk assessments for all new customers.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Set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monthly Azure spending budgets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alerts to detect unexpected spikes or crypto-mining.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Rapid Incident Response: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Establish a process to triage and respond to Partner Center security alerts within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24 hours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Tenant Restrictions: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Block your employees from using corporate devices to access unauthorized external tenants.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Add Security Contact in Partner Center.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Separate Partner Center Tenant from IT Services.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Monitor Identity Secure Score.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Implement Nonpayment/Fraud/Misuse Guidance: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Run customer background checks and validations.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Establish a clear collections policy.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Don't accept high-risk payment instruments.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Require customers to monitor and secure their tenants.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Implement process for quick review/action/respond to Microsoft notifications.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Monitor customer activity logs regularly via the Account settings workspace.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Partners can set a monthly Azure spending budget.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Monitor/enforce customer’s use of Security Defaults using Graph API.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Familiarize with NOBELIUM Threats.</a:t>
            </a:r>
          </a:p>
        </p:txBody>
      </p:sp>
    </p:spTree>
    <p:extLst>
      <p:ext uri="{BB962C8B-B14F-4D97-AF65-F5344CB8AC3E}">
        <p14:creationId xmlns:p14="http://schemas.microsoft.com/office/powerpoint/2010/main" val="517595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5944B-6929-66BC-B461-7F26EC607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31313-9695-82C9-230D-135D5F53E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89" y="138882"/>
            <a:ext cx="11812571" cy="542156"/>
          </a:xfrm>
        </p:spPr>
        <p:txBody>
          <a:bodyPr>
            <a:normAutofit fontScale="90000"/>
          </a:bodyPr>
          <a:lstStyle/>
          <a:p>
            <a:r>
              <a:rPr lang="en-IN" dirty="0"/>
              <a:t>Identity Management &amp;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0FCC2-A021-77A7-FE30-E867F594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9" y="801278"/>
            <a:ext cx="11812571" cy="5917840"/>
          </a:xfrm>
        </p:spPr>
        <p:txBody>
          <a:bodyPr>
            <a:normAutofit fontScale="85000" lnSpcReduction="10000"/>
          </a:bodyPr>
          <a:lstStyle/>
          <a:p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Managing access via the "Zero Trust" principle (Verify Explicitly, Use Least Privilege).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Phishing-Resistant MFA: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Enforce FIDO2, Certificate-based, or Windows Hello for Business for all users (not just admins).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Risk-Based Conditional Access: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Block sign-ins or require MFA based on user and sign-in risk levels (requires Entra ID P2).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Just-In-Time (JIT) Access: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Use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Privileged Identity Management (PIM)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so admin rights are only active when needed.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Granular Delegated Admin (GDAP):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* Eliminate legacy "DAP" (all-or-nothing access).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Use time-bound, role-specific access (e.g., "Helpdesk Administrator" instead of "Global Admin").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No "Admin-In-Customer" Accounts: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Do not create manual user accounts inside customer tenants; always use GDAP.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Quarterly Access Reviews: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Schedule automated reviews to revoke access for stale accounts or completed projects.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Require MFA; adopt Phishing-Resistant MFA (using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Passwordless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authentication or number matching).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Use Conditional Access; apply Risk-Based Policies (Entra ID P2) using Microsoft Entra ID Protection.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Separate Privileged &amp; Regular Accounts.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Review &amp; Limit Admin Access.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Utilize PIM for JIT Access.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Use Dedicated Accounts for Privileged Access.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Limit Privileged Roles.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Remove inactive Delegated Admin Privileges (DAP).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Ensure GDAP Uses Least Privilege.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Avoid creating partner accounts in customer tenants that they manage (B2B).</a:t>
            </a:r>
          </a:p>
        </p:txBody>
      </p:sp>
    </p:spTree>
    <p:extLst>
      <p:ext uri="{BB962C8B-B14F-4D97-AF65-F5344CB8AC3E}">
        <p14:creationId xmlns:p14="http://schemas.microsoft.com/office/powerpoint/2010/main" val="1241709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79085-2E28-2D8B-B1CF-90D772FF7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65479-F4CC-F3A7-FDB4-E618F1FA0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89" y="138882"/>
            <a:ext cx="11812571" cy="542156"/>
          </a:xfrm>
        </p:spPr>
        <p:txBody>
          <a:bodyPr>
            <a:normAutofit fontScale="90000"/>
          </a:bodyPr>
          <a:lstStyle/>
          <a:p>
            <a:r>
              <a:rPr lang="en-IN" dirty="0"/>
              <a:t>Apps &amp; Devices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A8AF1-589A-646E-545D-2A611F497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9" y="801278"/>
            <a:ext cx="11812571" cy="5917840"/>
          </a:xfrm>
        </p:spPr>
        <p:txBody>
          <a:bodyPr>
            <a:norm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Protecting the tools and devices used to manage customer data.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Managed Admin Workstations: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Admins must use devices that meet security baselines (BitLocker, Antivirus, Managed by Intune).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Privileged Access Workstations (PAWs):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Use isolated, "hardened" devices for high-risk administration tasks.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Secure Application Model: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Ensure all custom tools or 3rd-party integrations (APIs) use the app + user authentication model.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API MFA Mandate: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(Effective April 2026) Ensure all API calls to Partner Center are authenticated with MFA.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Restricted App Consent: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Disable the ability for users to grant permissions to 3rd-party apps without admin approval.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App Governance: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Periodically audit the permissions granted to "Control Panel Vendors" (CPVs) and 3rd-party SaaS tools.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Only allow registered, healthy workstations with managed security baselines, EDR (e.g., MDE) and are monitored for security risks.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Dedicated workstations (virtual or physical) for users with privileged access to customers' environments.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Adapt Secure Application Model if you're integrating with Partner Center APIs (for any app and user auth model applications).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Disable user consent in Partner Center Microsoft Entra tenant or use the admin consent workflow.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For Control Panel vendors: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Enable the secure application model and turn on logging for all user activity.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Enable auditing of every partner agent logging into the application and all actions taken.</a:t>
            </a:r>
          </a:p>
        </p:txBody>
      </p:sp>
    </p:spTree>
    <p:extLst>
      <p:ext uri="{BB962C8B-B14F-4D97-AF65-F5344CB8AC3E}">
        <p14:creationId xmlns:p14="http://schemas.microsoft.com/office/powerpoint/2010/main" val="2265824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9210A-DEA6-BD92-72EF-4BBAB0384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04F81-4BDD-A531-559D-5FEC9EE2A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89" y="138882"/>
            <a:ext cx="11812571" cy="542156"/>
          </a:xfrm>
        </p:spPr>
        <p:txBody>
          <a:bodyPr>
            <a:normAutofit fontScale="90000"/>
          </a:bodyPr>
          <a:lstStyle/>
          <a:p>
            <a:r>
              <a:rPr lang="en-IN" dirty="0"/>
              <a:t>Security Monitoring &amp;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953FA-9F09-5283-DFF6-45DA22545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9" y="801278"/>
            <a:ext cx="11812571" cy="5917840"/>
          </a:xfrm>
        </p:spPr>
        <p:txBody>
          <a:bodyPr>
            <a:normAutofit/>
          </a:bodyPr>
          <a:lstStyle/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Maintaining visibility to detect and stop attacks in progress.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Audit Logging: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Enable and regularly review logs for the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Secure Application Model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Partner Center activity.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Extended Log Retention: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Retain sign-in and audit logs for at least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30 days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to support forensic investigations.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MFA Compliance Monitoring: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Use the "Customer MFA Statistics" page in Partner Center to verify customer security posture.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Fraud Notifications: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Monitor the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Azure Fraud Detection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dashboard for immediate alerts on resource misuse.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Sentinel/SIEM Integration: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Stream Partner Center and Entra logs into a SIEM (like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Microsoft Sentinel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 for automated threat hunting.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Break-Glass Accounts: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Maintain two cloud-only "emergency access" accounts, stored securely, to prevent total tenant lockout.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Enable Secure Application Model Logging.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Audit User Activity.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Monitor "Customer MFA statistics" page in Partner Center for an aggregate view of your customers’ tenant security.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Monitor "Security at your organization" page in Partner Center for insights into your own tenant security.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Monitor sign-ins &amp; retain logs for 30 days (when using Microsoft Entra ID P2).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Review and verify password recovery details (emails &amp; phone numbers) for all users with the privileged Entra admin roles.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Implement Audit Logging best practices.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Leverage Microsoft Entra Reports.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Review Risky Users Report (Microsoft Entra ID P2), remediate risks &amp; unblock users.</a:t>
            </a:r>
          </a:p>
        </p:txBody>
      </p:sp>
    </p:spTree>
    <p:extLst>
      <p:ext uri="{BB962C8B-B14F-4D97-AF65-F5344CB8AC3E}">
        <p14:creationId xmlns:p14="http://schemas.microsoft.com/office/powerpoint/2010/main" val="3730045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602E4-DA37-4AF8-A41E-30128F65A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577A9-A419-9D5C-D0A0-95103FB51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89" y="138882"/>
            <a:ext cx="11812571" cy="542156"/>
          </a:xfrm>
        </p:spPr>
        <p:txBody>
          <a:bodyPr>
            <a:normAutofit fontScale="90000"/>
          </a:bodyPr>
          <a:lstStyle/>
          <a:p>
            <a:r>
              <a:rPr lang="en-IN" dirty="0"/>
              <a:t>Recommended 2026 Toolset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735F1-50D0-A6CB-89DD-3AAFEBC28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9" y="801278"/>
            <a:ext cx="11812571" cy="5917840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Microsoft Entra ID P2: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For PIM, Risk-based policies, and Access Reviews.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Microsoft Sentinel: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For centralized monitoring and automated response.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Microsoft Intune: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For managing workstation security baselines.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Microsoft Defender Experts: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(New for 2026) For 24/7 managed threat hunting and response.</a:t>
            </a:r>
          </a:p>
        </p:txBody>
      </p:sp>
    </p:spTree>
    <p:extLst>
      <p:ext uri="{BB962C8B-B14F-4D97-AF65-F5344CB8AC3E}">
        <p14:creationId xmlns:p14="http://schemas.microsoft.com/office/powerpoint/2010/main" val="1772045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1DFCD-690E-E33F-4955-DD7CDA2BE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E2A1-DA30-42F3-5361-8871087B0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89" y="138882"/>
            <a:ext cx="11812571" cy="542156"/>
          </a:xfrm>
        </p:spPr>
        <p:txBody>
          <a:bodyPr>
            <a:normAutofit fontScale="90000"/>
          </a:bodyPr>
          <a:lstStyle/>
          <a:p>
            <a:r>
              <a:rPr lang="en-IN" dirty="0"/>
              <a:t>Tenant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9B830-C7DF-71D2-F149-35C9CC83E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9" y="801278"/>
            <a:ext cx="11812571" cy="5917840"/>
          </a:xfrm>
        </p:spPr>
        <p:txBody>
          <a:bodyPr>
            <a:normAutofit fontScale="77500" lnSpcReduction="20000"/>
          </a:bodyPr>
          <a:lstStyle/>
          <a:p>
            <a:r>
              <a:rPr lang="en-US" i="1" dirty="0"/>
              <a:t>Focus on the foundation of your Partner Center and customer tenant relationships.</a:t>
            </a:r>
            <a:endParaRPr lang="en-US" dirty="0"/>
          </a:p>
          <a:p>
            <a:r>
              <a:rPr lang="en-US" b="1" dirty="0"/>
              <a:t>[MANDATORY] Security Contact:</a:t>
            </a:r>
            <a:r>
              <a:rPr lang="en-US" dirty="0"/>
              <a:t> Add and maintain a dedicated, monitored Security Contact in Partner Center for 24-hour incident notifications.</a:t>
            </a:r>
          </a:p>
          <a:p>
            <a:r>
              <a:rPr lang="en-US" b="1" dirty="0"/>
              <a:t>[MANDATORY] Secure Score:</a:t>
            </a:r>
            <a:r>
              <a:rPr lang="en-US" dirty="0"/>
              <a:t> Maintain a Partner Center Secure Score of </a:t>
            </a:r>
            <a:r>
              <a:rPr lang="en-US" b="1" dirty="0"/>
              <a:t>80 or higher</a:t>
            </a:r>
            <a:r>
              <a:rPr lang="en-US" dirty="0"/>
              <a:t> to satisfy annual authorization.</a:t>
            </a:r>
          </a:p>
          <a:p>
            <a:r>
              <a:rPr lang="en-US" b="1" dirty="0"/>
              <a:t>Tenant Isolation:</a:t>
            </a:r>
            <a:r>
              <a:rPr lang="en-US" dirty="0"/>
              <a:t> Keep your Partner Center Tenant strictly separate from your standard internal IT Services tenant.</a:t>
            </a:r>
          </a:p>
          <a:p>
            <a:r>
              <a:rPr lang="en-US" b="1" dirty="0"/>
              <a:t>Identity Secure Score:</a:t>
            </a:r>
            <a:r>
              <a:rPr lang="en-US" dirty="0"/>
              <a:t> Continuously monitor and remediate your Identity Secure Score.</a:t>
            </a:r>
          </a:p>
          <a:p>
            <a:r>
              <a:rPr lang="en-US" b="1" dirty="0"/>
              <a:t>Fraud Mitigation &amp; Guidance:</a:t>
            </a:r>
            <a:endParaRPr lang="en-US" dirty="0"/>
          </a:p>
          <a:p>
            <a:pPr lvl="1"/>
            <a:r>
              <a:rPr lang="en-US" dirty="0"/>
              <a:t>Run customer background checks and credit validations.</a:t>
            </a:r>
          </a:p>
          <a:p>
            <a:pPr lvl="1"/>
            <a:r>
              <a:rPr lang="en-US" dirty="0"/>
              <a:t>Establish a clear collections policy.</a:t>
            </a:r>
          </a:p>
          <a:p>
            <a:pPr lvl="1"/>
            <a:r>
              <a:rPr lang="en-US" dirty="0"/>
              <a:t>Reject high-risk payment instruments.</a:t>
            </a:r>
          </a:p>
          <a:p>
            <a:pPr lvl="1"/>
            <a:r>
              <a:rPr lang="en-US" dirty="0"/>
              <a:t>Require customers to monitor and secure their own tenants.</a:t>
            </a:r>
          </a:p>
          <a:p>
            <a:pPr lvl="1"/>
            <a:r>
              <a:rPr lang="en-US" b="1" dirty="0"/>
              <a:t>[MANDATORY] 24-Hour Response:</a:t>
            </a:r>
            <a:r>
              <a:rPr lang="en-US" dirty="0"/>
              <a:t> Implement a process to review and respond to Microsoft security notifications within 24 hours.</a:t>
            </a:r>
          </a:p>
          <a:p>
            <a:pPr lvl="1"/>
            <a:r>
              <a:rPr lang="en-US" dirty="0"/>
              <a:t>Monitor customer activity logs regularly via the Account settings workspace.</a:t>
            </a:r>
          </a:p>
          <a:p>
            <a:pPr lvl="1"/>
            <a:r>
              <a:rPr lang="en-US" dirty="0"/>
              <a:t>Set monthly Azure spending budgets and automated alerts for all customers.</a:t>
            </a:r>
          </a:p>
          <a:p>
            <a:r>
              <a:rPr lang="en-US" b="1" dirty="0"/>
              <a:t>Security Defaults:</a:t>
            </a:r>
            <a:r>
              <a:rPr lang="en-US" dirty="0"/>
              <a:t> Monitor and enforce the use of Security Defaults via Graph API.</a:t>
            </a:r>
          </a:p>
          <a:p>
            <a:r>
              <a:rPr lang="en-US" b="1" dirty="0"/>
              <a:t>Threat Intelligence:</a:t>
            </a:r>
            <a:r>
              <a:rPr lang="en-US" dirty="0"/>
              <a:t> Maintain awareness of NOBELIUM and other state-sponsored threat actors.</a:t>
            </a:r>
          </a:p>
        </p:txBody>
      </p:sp>
    </p:spTree>
    <p:extLst>
      <p:ext uri="{BB962C8B-B14F-4D97-AF65-F5344CB8AC3E}">
        <p14:creationId xmlns:p14="http://schemas.microsoft.com/office/powerpoint/2010/main" val="375419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775BD-23E4-D92C-8020-4FDEFA5CC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3D0AB-14AC-101B-F03C-55095F9F9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89" y="138882"/>
            <a:ext cx="11812571" cy="542156"/>
          </a:xfrm>
        </p:spPr>
        <p:txBody>
          <a:bodyPr>
            <a:normAutofit fontScale="90000"/>
          </a:bodyPr>
          <a:lstStyle/>
          <a:p>
            <a:r>
              <a:rPr lang="en-IN" dirty="0"/>
              <a:t>Identity Management &amp;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C4976-B96B-67FE-9AF0-C3724FCC0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9" y="801278"/>
            <a:ext cx="11812571" cy="5917840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Managing "Who" has access and "How" they authenticate.</a:t>
            </a:r>
            <a:endParaRPr lang="en-US" dirty="0"/>
          </a:p>
          <a:p>
            <a:r>
              <a:rPr lang="en-US" b="1" dirty="0"/>
              <a:t>[MANDATORY] MFA Everywhere:</a:t>
            </a:r>
            <a:r>
              <a:rPr lang="en-US" dirty="0"/>
              <a:t> Require MFA for all users; adopt Phishing-Resistant MFA (FIDO2 or certificate-based) for all administrative roles.</a:t>
            </a:r>
          </a:p>
          <a:p>
            <a:r>
              <a:rPr lang="en-US" b="1" dirty="0"/>
              <a:t>Conditional Access:</a:t>
            </a:r>
            <a:r>
              <a:rPr lang="en-US" dirty="0"/>
              <a:t> Apply Risk-Based Policies (Entra ID P2) using Microsoft Entra ID Protection.</a:t>
            </a:r>
          </a:p>
          <a:p>
            <a:r>
              <a:rPr lang="en-US" b="1" dirty="0"/>
              <a:t>Privileged Access Management (PAM):</a:t>
            </a:r>
            <a:endParaRPr lang="en-US" dirty="0"/>
          </a:p>
          <a:p>
            <a:pPr lvl="1"/>
            <a:r>
              <a:rPr lang="en-US" dirty="0"/>
              <a:t>Separate Privileged accounts from Regular user accounts.</a:t>
            </a:r>
          </a:p>
          <a:p>
            <a:pPr lvl="1"/>
            <a:r>
              <a:rPr lang="en-US" dirty="0"/>
              <a:t>Utilize </a:t>
            </a:r>
            <a:r>
              <a:rPr lang="en-US" b="1" dirty="0"/>
              <a:t>PIM (Privileged Identity Management)</a:t>
            </a:r>
            <a:r>
              <a:rPr lang="en-US" dirty="0"/>
              <a:t> for Just-In-Time (JIT) access.</a:t>
            </a:r>
          </a:p>
          <a:p>
            <a:pPr lvl="1"/>
            <a:r>
              <a:rPr lang="en-US" dirty="0"/>
              <a:t>Limit the total number of users assigned to Privileged Roles.</a:t>
            </a:r>
          </a:p>
          <a:p>
            <a:r>
              <a:rPr lang="en-US" b="1" dirty="0"/>
              <a:t>[MANDATORY] GDAP Transition:</a:t>
            </a:r>
            <a:r>
              <a:rPr lang="en-US" dirty="0"/>
              <a:t> Ensure 100% of customer relationships use </a:t>
            </a:r>
            <a:r>
              <a:rPr lang="en-US" b="1" dirty="0"/>
              <a:t>GDAP (Granular Delegated Admin Privileges)</a:t>
            </a:r>
            <a:r>
              <a:rPr lang="en-US" dirty="0"/>
              <a:t> with Least Privilege; remove all legacy DAP.</a:t>
            </a:r>
          </a:p>
          <a:p>
            <a:r>
              <a:rPr lang="en-US" b="1" dirty="0"/>
              <a:t>No Permanent Access:</a:t>
            </a:r>
            <a:r>
              <a:rPr lang="en-US" dirty="0"/>
              <a:t> Ensure no partner accounts have permanent admin roles in customer tenants (avoid B2B admin accounts).</a:t>
            </a:r>
          </a:p>
          <a:p>
            <a:r>
              <a:rPr lang="en-US" b="1" dirty="0"/>
              <a:t>Access Reviews:</a:t>
            </a:r>
            <a:r>
              <a:rPr lang="en-US" dirty="0"/>
              <a:t> Automate quarterly reviews of privileged access to customer environments.</a:t>
            </a:r>
          </a:p>
        </p:txBody>
      </p:sp>
    </p:spTree>
    <p:extLst>
      <p:ext uri="{BB962C8B-B14F-4D97-AF65-F5344CB8AC3E}">
        <p14:creationId xmlns:p14="http://schemas.microsoft.com/office/powerpoint/2010/main" val="3531194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75167-C4C6-5AAA-ED14-7F5B1BDCF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ECAA0-13F2-A60B-3EB8-F761823C1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89" y="138882"/>
            <a:ext cx="11812571" cy="542156"/>
          </a:xfrm>
        </p:spPr>
        <p:txBody>
          <a:bodyPr>
            <a:normAutofit fontScale="90000"/>
          </a:bodyPr>
          <a:lstStyle/>
          <a:p>
            <a:r>
              <a:rPr lang="en-IN" dirty="0"/>
              <a:t>Apps &amp; Devices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D5449-436F-2E14-EE1B-5FFA1DB64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9" y="801278"/>
            <a:ext cx="11812571" cy="5917840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Securing the endpoints and software used to manage the ecosystem.</a:t>
            </a:r>
            <a:endParaRPr lang="en-US" dirty="0"/>
          </a:p>
          <a:p>
            <a:r>
              <a:rPr lang="en-US" b="1" dirty="0"/>
              <a:t>Managed Workstations:</a:t>
            </a:r>
            <a:r>
              <a:rPr lang="en-US" dirty="0"/>
              <a:t> Access customer environments only from registered, healthy workstations with security baselines and EDR (e.g., Microsoft Defender for Endpoint).</a:t>
            </a:r>
          </a:p>
          <a:p>
            <a:r>
              <a:rPr lang="en-US" b="1" dirty="0"/>
              <a:t>Dedicated PAWs:</a:t>
            </a:r>
            <a:r>
              <a:rPr lang="en-US" dirty="0"/>
              <a:t> Use Privileged Access Workstations (virtual or physical) for high-level administrative tasks.</a:t>
            </a:r>
          </a:p>
          <a:p>
            <a:r>
              <a:rPr lang="en-US" b="1" dirty="0"/>
              <a:t>[MANDATORY] Secure Application Model:</a:t>
            </a:r>
            <a:r>
              <a:rPr lang="en-US" dirty="0"/>
              <a:t> Ensure all API integrations use the Secure Application Model.</a:t>
            </a:r>
          </a:p>
          <a:p>
            <a:pPr lvl="1"/>
            <a:r>
              <a:rPr lang="en-US" i="1" dirty="0"/>
              <a:t>Note: As of April 2026, MFA is strictly required for all Partner Center API access.</a:t>
            </a:r>
            <a:endParaRPr lang="en-US" dirty="0"/>
          </a:p>
          <a:p>
            <a:r>
              <a:rPr lang="en-US" b="1" dirty="0"/>
              <a:t>Consent Workflow:</a:t>
            </a:r>
            <a:r>
              <a:rPr lang="en-US" dirty="0"/>
              <a:t> Disable user consent in the Partner Center Entra tenant; enforce the admin consent workflow.</a:t>
            </a:r>
          </a:p>
          <a:p>
            <a:r>
              <a:rPr lang="en-US" b="1" dirty="0"/>
              <a:t>Control Panel Vendor (CPV) Security:</a:t>
            </a:r>
            <a:r>
              <a:rPr lang="en-US" dirty="0"/>
              <a:t> * Enable the secure application model and logging for all user activity.</a:t>
            </a:r>
          </a:p>
          <a:p>
            <a:pPr lvl="1"/>
            <a:r>
              <a:rPr lang="en-US" dirty="0"/>
              <a:t>Audit every partner agent login and all actions taken within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4170454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F9205-0F9E-58A1-0F87-449070B9B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3FD08-F6CF-5D35-8697-A2A24994F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89" y="138882"/>
            <a:ext cx="11812571" cy="542156"/>
          </a:xfrm>
        </p:spPr>
        <p:txBody>
          <a:bodyPr>
            <a:normAutofit fontScale="90000"/>
          </a:bodyPr>
          <a:lstStyle/>
          <a:p>
            <a:r>
              <a:rPr lang="en-IN" dirty="0"/>
              <a:t>Security Monitoring &amp;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88EDD-1CA4-6291-A93C-ADC1702CF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9" y="801278"/>
            <a:ext cx="11812571" cy="5917840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Visibility and response to potential security incidents.</a:t>
            </a:r>
            <a:endParaRPr lang="en-US" dirty="0"/>
          </a:p>
          <a:p>
            <a:r>
              <a:rPr lang="en-US" b="1" dirty="0"/>
              <a:t>Activity Auditing:</a:t>
            </a:r>
            <a:r>
              <a:rPr lang="en-US" dirty="0"/>
              <a:t> Enable Secure Application Model logging and audit all user activity.</a:t>
            </a:r>
          </a:p>
          <a:p>
            <a:r>
              <a:rPr lang="en-US" b="1" dirty="0"/>
              <a:t>MFA Compliance:</a:t>
            </a:r>
            <a:r>
              <a:rPr lang="en-US" dirty="0"/>
              <a:t> Monitor the "Customer MFA Statistics" page in Partner Center for an aggregate view of customer security.</a:t>
            </a:r>
          </a:p>
          <a:p>
            <a:r>
              <a:rPr lang="en-US" b="1" dirty="0"/>
              <a:t>Internal Health:</a:t>
            </a:r>
            <a:r>
              <a:rPr lang="en-US" dirty="0"/>
              <a:t> Monitor the "Security at your organization" page in Partner Center for internal tenant insights.</a:t>
            </a:r>
          </a:p>
          <a:p>
            <a:r>
              <a:rPr lang="en-US" b="1" dirty="0"/>
              <a:t>[MANDATORY] Log Retention:</a:t>
            </a:r>
            <a:r>
              <a:rPr lang="en-US" dirty="0"/>
              <a:t> Retain sign-in logs for at least </a:t>
            </a:r>
            <a:r>
              <a:rPr lang="en-US" b="1" dirty="0"/>
              <a:t>30 days</a:t>
            </a:r>
            <a:r>
              <a:rPr lang="en-US" dirty="0"/>
              <a:t> (requires Microsoft Entra ID P2).</a:t>
            </a:r>
          </a:p>
          <a:p>
            <a:r>
              <a:rPr lang="en-US" b="1" dirty="0"/>
              <a:t>Account Recovery:</a:t>
            </a:r>
            <a:r>
              <a:rPr lang="en-US" dirty="0"/>
              <a:t> Regularly verify password recovery details (emails/phones) for all privileged Entra admin roles.</a:t>
            </a:r>
          </a:p>
          <a:p>
            <a:r>
              <a:rPr lang="en-US" b="1" dirty="0"/>
              <a:t>Threat Hunting:</a:t>
            </a:r>
            <a:r>
              <a:rPr lang="en-US" dirty="0"/>
              <a:t> Leverage Microsoft Entra Reports and export logs to </a:t>
            </a:r>
            <a:r>
              <a:rPr lang="en-US" b="1" dirty="0"/>
              <a:t>Microsoft Sentinel</a:t>
            </a:r>
            <a:r>
              <a:rPr lang="en-US" dirty="0"/>
              <a:t> for automated alerting.</a:t>
            </a:r>
          </a:p>
          <a:p>
            <a:r>
              <a:rPr lang="en-US" b="1" dirty="0"/>
              <a:t>Risk Remediation:</a:t>
            </a:r>
            <a:r>
              <a:rPr lang="en-US" dirty="0"/>
              <a:t> Review the "Risky Users" report daily; remediate and unblock users immediately to protect Secure Score.</a:t>
            </a:r>
          </a:p>
        </p:txBody>
      </p:sp>
    </p:spTree>
    <p:extLst>
      <p:ext uri="{BB962C8B-B14F-4D97-AF65-F5344CB8AC3E}">
        <p14:creationId xmlns:p14="http://schemas.microsoft.com/office/powerpoint/2010/main" val="4004905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1950</Words>
  <Application>Microsoft Office PowerPoint</Application>
  <PresentationFormat>Widescreen</PresentationFormat>
  <Paragraphs>150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Office Theme</vt:lpstr>
      <vt:lpstr>Microsoft Security Stack Checklists</vt:lpstr>
      <vt:lpstr>Microsoft Cloud Solution Provider (CSP) Security Checklist</vt:lpstr>
      <vt:lpstr>Tenant security</vt:lpstr>
      <vt:lpstr>Identity Management &amp; Governance</vt:lpstr>
      <vt:lpstr>Apps &amp; Devices Security</vt:lpstr>
      <vt:lpstr>Security Monitoring &amp; Reporting</vt:lpstr>
      <vt:lpstr>Recommended 2026 Toolset</vt:lpstr>
      <vt:lpstr>Tenant Security</vt:lpstr>
      <vt:lpstr>Identity Management &amp; Governance</vt:lpstr>
      <vt:lpstr>Apps &amp; Devices Security</vt:lpstr>
      <vt:lpstr>Security Monitoring &amp; Reporting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j0352</dc:creator>
  <cp:lastModifiedBy>sandeep j0352</cp:lastModifiedBy>
  <cp:revision>24</cp:revision>
  <dcterms:created xsi:type="dcterms:W3CDTF">2026-01-04T10:56:22Z</dcterms:created>
  <dcterms:modified xsi:type="dcterms:W3CDTF">2026-01-04T11:25:08Z</dcterms:modified>
</cp:coreProperties>
</file>