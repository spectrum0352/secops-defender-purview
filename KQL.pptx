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61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8" r:id="rId12"/>
    <p:sldId id="316" r:id="rId13"/>
    <p:sldId id="317" r:id="rId14"/>
    <p:sldId id="319" r:id="rId15"/>
    <p:sldId id="320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8BA7E-410E-0222-F7CC-1C0FAD6F7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3D614-CE78-1A0C-3C3F-E0BE02CE9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D8696-5539-79E1-6787-2FE583898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F767C-0787-4C26-9074-1E8F1B00CD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44CD6-B6CC-351C-D985-12720F60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600A8-AD23-C047-DCC8-F19D51AE6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385D-48A6-40E3-ADBD-EB32E1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894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D5C09-B436-E526-4B77-B56CBA54F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DE552-CDED-CD9E-04BD-7E46CE097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F0E9C-4B51-D4CE-49BE-A0E322458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F767C-0787-4C26-9074-1E8F1B00CD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BEF26-4396-C722-D6D4-DCE90F04B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7AE2B-9FDA-98BF-732C-539417B4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385D-48A6-40E3-ADBD-EB32E1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736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260B3-4142-F802-23D9-E1ECEE6A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A7C38-A3D5-0DF0-1124-A0EA8C6DC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F485C-8204-9182-FAA8-3314E4A5A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F767C-0787-4C26-9074-1E8F1B00CD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FC3BB-4EB2-8618-384F-3BF6B78C7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E089B-AFD8-0BB2-1A96-6832DCA5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385D-48A6-40E3-ADBD-EB32E1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09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2129-AB34-EA6B-171F-2C987BEF3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AE4C9-4BB8-DEA5-B74A-02006CDAC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18562-4711-E888-FD48-4A554B14F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6AE3D-1CFA-C8E5-9CD2-390B7C71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F767C-0787-4C26-9074-1E8F1B00CD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ACACD-137C-6573-F263-E3A03EF20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D0C71-54F0-3368-8413-2E49B639D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385D-48A6-40E3-ADBD-EB32E1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705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E5E22-4A9D-57F2-96E4-CE541621E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43B97-405C-E00C-1672-CA14E8F61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4B372-EC1D-1976-BCB6-143372053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16E86A-A6D2-24D7-46B9-3E853CA93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772A46-E70C-CD23-61CC-A4EC813DB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EE168A-05F0-9A4F-9699-8E59C2FB3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F767C-0787-4C26-9074-1E8F1B00CD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B1FB30-6938-83DE-E85C-315BF4A8F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28028B-F847-D5B5-2422-FE689E3F4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385D-48A6-40E3-ADBD-EB32E1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597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94DA0-0380-0437-99DE-B5A0F3851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02B240-C9B5-4379-CC75-C770A0545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F767C-0787-4C26-9074-1E8F1B00CD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00986C-B918-0E7D-F106-706D9C5A8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02423C-822A-E348-8CB3-64B727C7F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385D-48A6-40E3-ADBD-EB32E1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106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1952F6-2578-DFCC-C803-83E6F54CB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F767C-0787-4C26-9074-1E8F1B00CD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402A4-18B5-D6B9-B88B-E3C4ED46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F5B8B-E438-CF3F-1487-E985C8B30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385D-48A6-40E3-ADBD-EB32E1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337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4CC48-1BC4-3BAE-85CA-811D8E564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044BA-9CE1-B884-CDDC-09240BEF9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2249B-E478-C9FA-FE54-AE7D6FDA3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363B4-5DED-22B8-2F36-E6FD910DF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F767C-0787-4C26-9074-1E8F1B00CD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4D2E8-C99D-A224-1246-696FE015B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D7C08-CC4F-18BB-8506-CF2592F09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385D-48A6-40E3-ADBD-EB32E1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18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98AD2-1AC4-ADF7-86B3-8696C10B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AF7BB6-16B9-49C7-C88B-712CA4EF8B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9D6D6-6996-BEAC-EE9B-C44DDAB13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528A8-6DD8-9280-28E5-7C0B003B7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F767C-0787-4C26-9074-1E8F1B00CD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6C807-6407-4F6C-BD05-4CDF7627B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24A72-1D3E-C11B-03D9-F6461C1D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385D-48A6-40E3-ADBD-EB32E1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962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3D3A8-770B-FE2A-2F23-0DCE7A7EE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FA7BCA-CB81-19ED-8EBE-729EBC614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F7631-00E5-899C-AB12-72035CD04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F767C-0787-4C26-9074-1E8F1B00CD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67C86-DCBB-E663-00D8-691AF59F1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70DE2-5E4B-55FD-D3C6-277A68018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385D-48A6-40E3-ADBD-EB32E1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013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5DD4D1-FBA2-33D9-B9B5-70C8DA680E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F63C5D-76DE-9C35-5EF1-926808930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EC74D-6D8F-8954-828A-194590FC9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F767C-0787-4C26-9074-1E8F1B00CD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B890F-6520-5698-1FD9-914A8149F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BE81C-8113-B468-D2D6-4157227D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D385D-48A6-40E3-ADBD-EB32E1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516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C862D8-F6FC-C6D1-1744-097A4CD57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50F4E-5B2A-7C70-A9D4-BD885E9DF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18638-2A58-9F45-211C-6ED23C7D6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F767C-0787-4C26-9074-1E8F1B00CD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5895D-C876-9D9A-A7A8-ADDA428E3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83572-D4C1-8821-4376-6DC6A759A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3D385D-48A6-40E3-ADBD-EB32E13DDA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852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EABB4-A949-45B8-9B2F-D4A506BF3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latin typeface="Segoe UI" panose="020B0502040204020203" pitchFamily="34" charset="0"/>
                <a:cs typeface="Segoe UI" panose="020B0502040204020203" pitchFamily="34" charset="0"/>
              </a:rPr>
              <a:t>Kusto Query Language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F996D5-922C-4976-BD4E-7297B1B8F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Threat Hunting and Detection</a:t>
            </a:r>
          </a:p>
        </p:txBody>
      </p:sp>
    </p:spTree>
    <p:extLst>
      <p:ext uri="{BB962C8B-B14F-4D97-AF65-F5344CB8AC3E}">
        <p14:creationId xmlns:p14="http://schemas.microsoft.com/office/powerpoint/2010/main" val="1670055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332881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+mn-lt"/>
                <a:cs typeface="Segoe UI" panose="020B0502040204020203" pitchFamily="34" charset="0"/>
              </a:rPr>
              <a:t>Content</a:t>
            </a:r>
            <a:endParaRPr lang="en-IN" b="1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462337"/>
            <a:ext cx="11840851" cy="61269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Let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Search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Where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Extend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>
                <a:cs typeface="Segoe UI" panose="020B0502040204020203" pitchFamily="34" charset="0"/>
              </a:rPr>
              <a:t>Order by</a:t>
            </a:r>
            <a:endParaRPr lang="en-US" sz="2000" dirty="0"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Summarize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Render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Union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Join</a:t>
            </a:r>
          </a:p>
          <a:p>
            <a:endParaRPr lang="en-US" sz="2000" dirty="0">
              <a:cs typeface="Segoe UI" panose="020B0502040204020203" pitchFamily="34" charset="0"/>
            </a:endParaRPr>
          </a:p>
          <a:p>
            <a:endParaRPr lang="en-IN" sz="2000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327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343155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Introduction</a:t>
            </a:r>
            <a:endParaRPr lang="en-IN" sz="36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472611"/>
            <a:ext cx="11840851" cy="61167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Kusto Query Language (KQL) is the query language used to perform analysis on data to create Analytics, Workbooks, and perform Hunting in Microsoft Sentinel.</a:t>
            </a:r>
            <a:endParaRPr lang="en-IN" sz="2000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378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343155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Let</a:t>
            </a:r>
            <a:endParaRPr lang="en-IN" sz="36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472611"/>
            <a:ext cx="11840851" cy="61167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Let statements bind names to expressions, same like creating variables in scripting.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Used to break a potentially complex expression into multiple parts.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Let statements allow for the creation of user-defined functions and views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cs typeface="Segoe UI" panose="020B0502040204020203" pitchFamily="34" charset="0"/>
              </a:rPr>
              <a:t>Declare and reuse variables: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"ago()" is a function that will take the current Date/Time and subtract it with value provided.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cs typeface="Segoe UI" panose="020B0502040204020203" pitchFamily="34" charset="0"/>
              </a:rPr>
              <a:t>Declare dynamic tables or lists: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2506E6-BFA1-8FD5-ABA3-8B42349C7897}"/>
              </a:ext>
            </a:extLst>
          </p:cNvPr>
          <p:cNvSpPr/>
          <p:nvPr/>
        </p:nvSpPr>
        <p:spPr>
          <a:xfrm>
            <a:off x="1387013" y="1767155"/>
            <a:ext cx="8116584" cy="152828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70C0"/>
                </a:solidFill>
                <a:cs typeface="Segoe UI" panose="020B0502040204020203" pitchFamily="34" charset="0"/>
              </a:rPr>
              <a:t>let timeOffset = 7d;</a:t>
            </a:r>
          </a:p>
          <a:p>
            <a:r>
              <a:rPr lang="en-US" dirty="0">
                <a:solidFill>
                  <a:srgbClr val="0070C0"/>
                </a:solidFill>
                <a:cs typeface="Segoe UI" panose="020B0502040204020203" pitchFamily="34" charset="0"/>
              </a:rPr>
              <a:t>let discardEventId = 4688;</a:t>
            </a:r>
          </a:p>
          <a:p>
            <a:r>
              <a:rPr lang="en-US" dirty="0">
                <a:solidFill>
                  <a:srgbClr val="0070C0"/>
                </a:solidFill>
                <a:cs typeface="Segoe UI" panose="020B0502040204020203" pitchFamily="34" charset="0"/>
              </a:rPr>
              <a:t>SecurityEvent</a:t>
            </a:r>
          </a:p>
          <a:p>
            <a:r>
              <a:rPr lang="en-US" dirty="0">
                <a:solidFill>
                  <a:srgbClr val="0070C0"/>
                </a:solidFill>
                <a:cs typeface="Segoe UI" panose="020B0502040204020203" pitchFamily="34" charset="0"/>
              </a:rPr>
              <a:t>| where TimeGenerated &gt; ago(timeOffset*2) and TimeGenerated &lt; ago(timeOffset)</a:t>
            </a:r>
          </a:p>
          <a:p>
            <a:r>
              <a:rPr lang="en-US" dirty="0">
                <a:solidFill>
                  <a:srgbClr val="0070C0"/>
                </a:solidFill>
                <a:cs typeface="Segoe UI" panose="020B0502040204020203" pitchFamily="34" charset="0"/>
              </a:rPr>
              <a:t>| where EventID != discardEventId</a:t>
            </a:r>
            <a:endParaRPr lang="en-IN" dirty="0">
              <a:solidFill>
                <a:srgbClr val="0070C0"/>
              </a:solidFill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2B2018-B811-D97C-11FF-A331F812D817}"/>
              </a:ext>
            </a:extLst>
          </p:cNvPr>
          <p:cNvSpPr/>
          <p:nvPr/>
        </p:nvSpPr>
        <p:spPr>
          <a:xfrm>
            <a:off x="167327" y="4388601"/>
            <a:ext cx="5707293" cy="152828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70C0"/>
                </a:solidFill>
                <a:cs typeface="Segoe UI" panose="020B0502040204020203" pitchFamily="34" charset="0"/>
              </a:rPr>
              <a:t>let suspiciousAccounts = datatable(account: string) [</a:t>
            </a:r>
          </a:p>
          <a:p>
            <a:r>
              <a:rPr lang="en-US" sz="1600" dirty="0">
                <a:solidFill>
                  <a:srgbClr val="0070C0"/>
                </a:solidFill>
                <a:cs typeface="Segoe UI" panose="020B0502040204020203" pitchFamily="34" charset="0"/>
              </a:rPr>
              <a:t>    @"\administrator", </a:t>
            </a:r>
          </a:p>
          <a:p>
            <a:r>
              <a:rPr lang="en-US" sz="1600" dirty="0">
                <a:solidFill>
                  <a:srgbClr val="0070C0"/>
                </a:solidFill>
                <a:cs typeface="Segoe UI" panose="020B0502040204020203" pitchFamily="34" charset="0"/>
              </a:rPr>
              <a:t>    @"NT AUTHORITY\SYSTEM"</a:t>
            </a:r>
          </a:p>
          <a:p>
            <a:r>
              <a:rPr lang="en-US" sz="1600" dirty="0">
                <a:solidFill>
                  <a:srgbClr val="0070C0"/>
                </a:solidFill>
                <a:cs typeface="Segoe UI" panose="020B0502040204020203" pitchFamily="34" charset="0"/>
              </a:rPr>
              <a:t>];</a:t>
            </a:r>
          </a:p>
          <a:p>
            <a:r>
              <a:rPr lang="en-US" sz="1600" dirty="0">
                <a:solidFill>
                  <a:srgbClr val="0070C0"/>
                </a:solidFill>
                <a:cs typeface="Segoe UI" panose="020B0502040204020203" pitchFamily="34" charset="0"/>
              </a:rPr>
              <a:t>SecurityEvent | where Account in (suspiciousAccounts)</a:t>
            </a:r>
            <a:endParaRPr lang="en-IN" sz="1600" dirty="0">
              <a:solidFill>
                <a:srgbClr val="0070C0"/>
              </a:solidFill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538800-8ABE-A15C-75DA-6E5D92115B1C}"/>
              </a:ext>
            </a:extLst>
          </p:cNvPr>
          <p:cNvSpPr/>
          <p:nvPr/>
        </p:nvSpPr>
        <p:spPr>
          <a:xfrm>
            <a:off x="6178195" y="4388602"/>
            <a:ext cx="5969170" cy="152828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70C0"/>
                </a:solidFill>
                <a:cs typeface="Segoe UI" panose="020B0502040204020203" pitchFamily="34" charset="0"/>
              </a:rPr>
              <a:t>let LowActivityAccounts = SecurityEvent </a:t>
            </a:r>
          </a:p>
          <a:p>
            <a:r>
              <a:rPr lang="en-US" sz="1600" dirty="0">
                <a:solidFill>
                  <a:srgbClr val="0070C0"/>
                </a:solidFill>
                <a:cs typeface="Segoe UI" panose="020B0502040204020203" pitchFamily="34" charset="0"/>
              </a:rPr>
              <a:t>| summarize cnt = count() by Account | where cnt &lt; 1000;</a:t>
            </a:r>
          </a:p>
          <a:p>
            <a:r>
              <a:rPr lang="en-US" sz="1600" dirty="0">
                <a:solidFill>
                  <a:srgbClr val="0070C0"/>
                </a:solidFill>
                <a:cs typeface="Segoe UI" panose="020B0502040204020203" pitchFamily="34" charset="0"/>
              </a:rPr>
              <a:t>LowActivityAccounts | where Account contains "SQL"</a:t>
            </a:r>
            <a:endParaRPr lang="en-IN" sz="1600" dirty="0">
              <a:solidFill>
                <a:srgbClr val="0070C0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313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343155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Search</a:t>
            </a:r>
            <a:endParaRPr lang="en-IN" sz="36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472611"/>
            <a:ext cx="11840851" cy="61167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The search operator provides a multi-table/multi-column search experience.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Although the search operator is easy to use, when compared to the where operator it's inefficient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Even with this inefficiency, you can use search to find data when unsure which table or column to filter.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The first statement will search for "err" across all tables.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The second statement will search for "err" in tables SecurityEvent, </a:t>
            </a:r>
            <a:r>
              <a:rPr lang="en-US" sz="2000" dirty="0" err="1">
                <a:cs typeface="Segoe UI" panose="020B0502040204020203" pitchFamily="34" charset="0"/>
              </a:rPr>
              <a:t>SecurityAlert</a:t>
            </a:r>
            <a:r>
              <a:rPr lang="en-US" sz="2000" dirty="0">
                <a:cs typeface="Segoe UI" panose="020B0502040204020203" pitchFamily="34" charset="0"/>
              </a:rPr>
              <a:t>, and tables starting with A.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Try each of these queries separately to see the results.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2000" dirty="0"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6E4AA8-AD0D-ECBE-C229-E4CECF661753}"/>
              </a:ext>
            </a:extLst>
          </p:cNvPr>
          <p:cNvSpPr/>
          <p:nvPr/>
        </p:nvSpPr>
        <p:spPr>
          <a:xfrm>
            <a:off x="2776962" y="2766832"/>
            <a:ext cx="5707293" cy="94213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70C0"/>
                </a:solidFill>
                <a:cs typeface="Segoe UI" panose="020B0502040204020203" pitchFamily="34" charset="0"/>
              </a:rPr>
              <a:t>search "err"</a:t>
            </a:r>
          </a:p>
          <a:p>
            <a:endParaRPr lang="en-US" sz="1600" dirty="0">
              <a:solidFill>
                <a:srgbClr val="0070C0"/>
              </a:solidFill>
              <a:cs typeface="Segoe UI" panose="020B0502040204020203" pitchFamily="34" charset="0"/>
            </a:endParaRPr>
          </a:p>
          <a:p>
            <a:r>
              <a:rPr lang="en-US" sz="1600" dirty="0">
                <a:solidFill>
                  <a:srgbClr val="0070C0"/>
                </a:solidFill>
                <a:cs typeface="Segoe UI" panose="020B0502040204020203" pitchFamily="34" charset="0"/>
              </a:rPr>
              <a:t>search in (SecurityEvent,SecurityAlert,A*) "err"</a:t>
            </a:r>
            <a:endParaRPr lang="en-IN" sz="1600" dirty="0">
              <a:solidFill>
                <a:srgbClr val="0070C0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697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343155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Where</a:t>
            </a:r>
            <a:endParaRPr lang="en-IN" sz="36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472611"/>
            <a:ext cx="11840851" cy="61167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The where operator filters a table to the subset of rows that satisfy a predicate.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9F20A1-DAEE-BB24-409A-59C09A50945D}"/>
              </a:ext>
            </a:extLst>
          </p:cNvPr>
          <p:cNvSpPr/>
          <p:nvPr/>
        </p:nvSpPr>
        <p:spPr>
          <a:xfrm>
            <a:off x="431515" y="2565203"/>
            <a:ext cx="10510463" cy="394861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SecurityEvent | where TimeGenerated &gt; ago(1d)</a:t>
            </a:r>
          </a:p>
          <a:p>
            <a:endParaRPr lang="en-US" dirty="0"/>
          </a:p>
          <a:p>
            <a:r>
              <a:rPr lang="en-US" dirty="0"/>
              <a:t>SecurityEvent | where TimeGenerated &gt; ago(1h) and EventID == "4624"</a:t>
            </a:r>
          </a:p>
          <a:p>
            <a:endParaRPr lang="en-US" dirty="0"/>
          </a:p>
          <a:p>
            <a:r>
              <a:rPr lang="en-US" dirty="0"/>
              <a:t>SecurityEvent | where TimeGenerated &gt; ago(1h) | where EventID == 4624 | where AccountType =~ "user"</a:t>
            </a:r>
          </a:p>
          <a:p>
            <a:endParaRPr lang="en-US" dirty="0"/>
          </a:p>
          <a:p>
            <a:r>
              <a:rPr lang="en-US" dirty="0"/>
              <a:t>SecurityEvent | where EventID in (4624, 4625)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1499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343155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Extend</a:t>
            </a:r>
            <a:endParaRPr lang="en-IN" sz="36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472611"/>
            <a:ext cx="11840851" cy="61167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The extend operator will create calculated columns and append the new columns to the result set.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The KQL example below uses the extend operator to create a new column, </a:t>
            </a:r>
            <a:r>
              <a:rPr lang="en-US" sz="2000" i="1" dirty="0">
                <a:cs typeface="Segoe UI" panose="020B0502040204020203" pitchFamily="34" charset="0"/>
              </a:rPr>
              <a:t>StartDir</a:t>
            </a:r>
            <a:r>
              <a:rPr lang="en-US" sz="2000" dirty="0">
                <a:cs typeface="Segoe UI" panose="020B0502040204020203" pitchFamily="34" charset="0"/>
              </a:rPr>
              <a:t> containing the directory a process was started in.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The </a:t>
            </a:r>
            <a:r>
              <a:rPr lang="en-US" sz="2000" i="1" dirty="0">
                <a:cs typeface="Segoe UI" panose="020B0502040204020203" pitchFamily="34" charset="0"/>
              </a:rPr>
              <a:t>StartDir</a:t>
            </a:r>
            <a:r>
              <a:rPr lang="en-US" sz="2000" dirty="0">
                <a:cs typeface="Segoe UI" panose="020B0502040204020203" pitchFamily="34" charset="0"/>
              </a:rPr>
              <a:t> column is a calculated column containing the results of a substring function.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947C0E-0094-D173-F773-371695FF44BA}"/>
              </a:ext>
            </a:extLst>
          </p:cNvPr>
          <p:cNvSpPr/>
          <p:nvPr/>
        </p:nvSpPr>
        <p:spPr>
          <a:xfrm>
            <a:off x="575353" y="3708971"/>
            <a:ext cx="11270749" cy="275347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SecurityEvent</a:t>
            </a:r>
          </a:p>
          <a:p>
            <a:r>
              <a:rPr lang="en-US" dirty="0"/>
              <a:t>| where ProcessName != "" and Process != ""</a:t>
            </a:r>
          </a:p>
          <a:p>
            <a:r>
              <a:rPr lang="en-US" dirty="0"/>
              <a:t>| extend StartDir =  substring(ProcessName,0, string_size(ProcessName)-string_size(Process))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0334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343155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Order operator</a:t>
            </a:r>
            <a:endParaRPr lang="en-IN" sz="36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472611"/>
            <a:ext cx="11840851" cy="61167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Sort the rows of the input table by one or more columns.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The order by operator can utilize any column or multiple columns by using a comma separator.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Each column can be ascending or descending. The default order for a column is descending.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309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343155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Summarize operator</a:t>
            </a:r>
            <a:endParaRPr lang="en-IN" sz="36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472611"/>
            <a:ext cx="11840851" cy="6116725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b="0" i="0" dirty="0">
                <a:solidFill>
                  <a:srgbClr val="171717"/>
                </a:solidFill>
                <a:effectLst/>
              </a:rPr>
              <a:t>The count operator with its variations will create a new column with the calculated result for the specified fields.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b="0" i="0" dirty="0">
                <a:solidFill>
                  <a:srgbClr val="171717"/>
                </a:solidFill>
                <a:effectLst/>
              </a:rPr>
              <a:t>The first statement below will return one column that is a unique list of Activity column values.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b="0" i="0" dirty="0">
                <a:solidFill>
                  <a:srgbClr val="171717"/>
                </a:solidFill>
                <a:effectLst/>
              </a:rPr>
              <a:t>The second statement will return a count of SecurityEvent rows where EventID equals 4688, and the count is grouped by Process and Computer. Because of the by clause, the result set will contain three columns: Process, Computer, Count.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b="0" i="0" dirty="0">
                <a:solidFill>
                  <a:srgbClr val="171717"/>
                </a:solidFill>
                <a:effectLst/>
              </a:rPr>
              <a:t>Run each Query separately to see the results.</a:t>
            </a:r>
          </a:p>
        </p:txBody>
      </p:sp>
    </p:spTree>
    <p:extLst>
      <p:ext uri="{BB962C8B-B14F-4D97-AF65-F5344CB8AC3E}">
        <p14:creationId xmlns:p14="http://schemas.microsoft.com/office/powerpoint/2010/main" val="4258264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343155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Project</a:t>
            </a:r>
            <a:endParaRPr lang="en-IN" sz="36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472611"/>
            <a:ext cx="11840851" cy="61167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The project operators control what columns to include, add, remove, or rename in the result set of a statement.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There are multiple types of project operators.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The following table is a list of the variations.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2000" dirty="0">
              <a:cs typeface="Segoe UI" panose="020B0502040204020203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FBDC95-7848-ED0B-550D-8E4052FD9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898672"/>
              </p:ext>
            </p:extLst>
          </p:nvPr>
        </p:nvGraphicFramePr>
        <p:xfrm>
          <a:off x="1479477" y="2404735"/>
          <a:ext cx="9513870" cy="2484748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2106203">
                  <a:extLst>
                    <a:ext uri="{9D8B030D-6E8A-4147-A177-3AD203B41FA5}">
                      <a16:colId xmlns:a16="http://schemas.microsoft.com/office/drawing/2014/main" val="556492510"/>
                    </a:ext>
                  </a:extLst>
                </a:gridCol>
                <a:gridCol w="7407667">
                  <a:extLst>
                    <a:ext uri="{9D8B030D-6E8A-4147-A177-3AD203B41FA5}">
                      <a16:colId xmlns:a16="http://schemas.microsoft.com/office/drawing/2014/main" val="2438905808"/>
                    </a:ext>
                  </a:extLst>
                </a:gridCol>
              </a:tblGrid>
              <a:tr h="322321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dirty="0">
                          <a:effectLst/>
                        </a:rPr>
                        <a:t>Operator</a:t>
                      </a:r>
                    </a:p>
                  </a:txBody>
                  <a:tcPr marL="80580" marR="80580" marT="40290" marB="40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>
                          <a:effectLst/>
                        </a:rPr>
                        <a:t>Description</a:t>
                      </a:r>
                    </a:p>
                  </a:txBody>
                  <a:tcPr marL="80580" marR="80580" marT="40290" marB="40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8400446"/>
                  </a:ext>
                </a:extLst>
              </a:tr>
              <a:tr h="353092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b="1" dirty="0">
                          <a:effectLst/>
                        </a:rPr>
                        <a:t>project</a:t>
                      </a:r>
                    </a:p>
                  </a:txBody>
                  <a:tcPr marL="80580" marR="80580" marT="40290" marB="40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Select the columns to add, rename or drop, and insert new computed columns.</a:t>
                      </a:r>
                    </a:p>
                  </a:txBody>
                  <a:tcPr marL="80580" marR="80580" marT="40290" marB="40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9803644"/>
                  </a:ext>
                </a:extLst>
              </a:tr>
              <a:tr h="421241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b="1" dirty="0">
                          <a:effectLst/>
                        </a:rPr>
                        <a:t>project-away</a:t>
                      </a:r>
                    </a:p>
                  </a:txBody>
                  <a:tcPr marL="80580" marR="80580" marT="40290" marB="40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Select what columns from the input to exclude from the output.</a:t>
                      </a:r>
                    </a:p>
                  </a:txBody>
                  <a:tcPr marL="80580" marR="80580" marT="40290" marB="40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3532168"/>
                  </a:ext>
                </a:extLst>
              </a:tr>
              <a:tr h="390418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b="1" dirty="0">
                          <a:effectLst/>
                        </a:rPr>
                        <a:t>project-keep</a:t>
                      </a:r>
                    </a:p>
                  </a:txBody>
                  <a:tcPr marL="80580" marR="80580" marT="40290" marB="40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Select what columns from the input to keep in the output.</a:t>
                      </a:r>
                    </a:p>
                  </a:txBody>
                  <a:tcPr marL="80580" marR="80580" marT="40290" marB="40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2651111"/>
                  </a:ext>
                </a:extLst>
              </a:tr>
              <a:tr h="431515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b="1" dirty="0">
                          <a:effectLst/>
                        </a:rPr>
                        <a:t>project-rename</a:t>
                      </a:r>
                    </a:p>
                  </a:txBody>
                  <a:tcPr marL="80580" marR="80580" marT="40290" marB="40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Select the columns to rename in the resulting output.</a:t>
                      </a:r>
                    </a:p>
                  </a:txBody>
                  <a:tcPr marL="80580" marR="80580" marT="40290" marB="40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3925331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b="1" dirty="0">
                          <a:effectLst/>
                        </a:rPr>
                        <a:t>project-reorder</a:t>
                      </a:r>
                    </a:p>
                  </a:txBody>
                  <a:tcPr marL="80580" marR="80580" marT="40290" marB="40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Set the column order in the resulting output.</a:t>
                      </a:r>
                    </a:p>
                  </a:txBody>
                  <a:tcPr marL="80580" marR="80580" marT="40290" marB="40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0874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720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343155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Render</a:t>
            </a:r>
            <a:endParaRPr lang="en-IN" sz="36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472611"/>
            <a:ext cx="11840851" cy="61167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The render operator generates a visualization of the query results.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The supported visualizations are: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dirty="0">
                <a:cs typeface="Segoe UI" panose="020B0502040204020203" pitchFamily="34" charset="0"/>
              </a:rPr>
              <a:t>areachart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dirty="0">
                <a:cs typeface="Segoe UI" panose="020B0502040204020203" pitchFamily="34" charset="0"/>
              </a:rPr>
              <a:t>barchart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dirty="0">
                <a:cs typeface="Segoe UI" panose="020B0502040204020203" pitchFamily="34" charset="0"/>
              </a:rPr>
              <a:t>columnchart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dirty="0">
                <a:cs typeface="Segoe UI" panose="020B0502040204020203" pitchFamily="34" charset="0"/>
              </a:rPr>
              <a:t>piechart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dirty="0">
                <a:cs typeface="Segoe UI" panose="020B0502040204020203" pitchFamily="34" charset="0"/>
              </a:rPr>
              <a:t>scatterchart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dirty="0">
                <a:cs typeface="Segoe UI" panose="020B0502040204020203" pitchFamily="34" charset="0"/>
              </a:rPr>
              <a:t>timechart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cs typeface="Segoe UI" panose="020B0502040204020203" pitchFamily="34" charset="0"/>
              </a:rPr>
              <a:t>Use the summarize operator to create time series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The bin() function rounds values down to an integer multiple of the given bin size.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Used frequently in combination with summarize by ....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If you have a scattered set of values, the values are grouped into a smaller set of specific values.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Combining the generated time series and pipe to a render operator with a type of timechart provides a time-series visualization.</a:t>
            </a:r>
            <a:endParaRPr lang="en-IN" sz="2000" dirty="0"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9001A8-5246-13AA-2E79-322B09DE7ABA}"/>
              </a:ext>
            </a:extLst>
          </p:cNvPr>
          <p:cNvSpPr/>
          <p:nvPr/>
        </p:nvSpPr>
        <p:spPr>
          <a:xfrm>
            <a:off x="3452116" y="1171254"/>
            <a:ext cx="8106309" cy="8219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SecurityEvent | summarize count() by Account | render barchart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4B8353-6FCD-EEDF-3415-263E5F3ED45E}"/>
              </a:ext>
            </a:extLst>
          </p:cNvPr>
          <p:cNvSpPr/>
          <p:nvPr/>
        </p:nvSpPr>
        <p:spPr>
          <a:xfrm>
            <a:off x="2196956" y="5650788"/>
            <a:ext cx="8106309" cy="8219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SecurityEvent | </a:t>
            </a:r>
            <a:r>
              <a:rPr lang="en-US" dirty="0">
                <a:highlight>
                  <a:srgbClr val="00FF00"/>
                </a:highlight>
              </a:rPr>
              <a:t>summarize count() by bin(TimeGenerated, 1d) | render timechart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20595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343155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Union</a:t>
            </a:r>
            <a:endParaRPr lang="en-IN" sz="36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472611"/>
            <a:ext cx="11840851" cy="611672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cs typeface="Segoe UI" panose="020B0502040204020203" pitchFamily="34" charset="0"/>
              </a:rPr>
              <a:t>It takes 2 or more tables and returns rows of all of them.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cs typeface="Segoe UI" panose="020B0502040204020203" pitchFamily="34" charset="0"/>
            </a:endParaRPr>
          </a:p>
          <a:p>
            <a:pPr marL="0" indent="0" algn="l">
              <a:buNone/>
            </a:pPr>
            <a:endParaRPr lang="en-US" sz="1600" b="0" i="0" dirty="0">
              <a:solidFill>
                <a:srgbClr val="171717"/>
              </a:solidFill>
              <a:effectLst/>
              <a:latin typeface="Segoe UI" panose="020B0502040204020203" pitchFamily="34" charset="0"/>
            </a:endParaRPr>
          </a:p>
          <a:p>
            <a:pPr marL="0" indent="0" algn="l">
              <a:buNone/>
            </a:pPr>
            <a:r>
              <a:rPr lang="en-US" sz="1600" b="0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The union operator supports wildcards to union multiple tables. The following KQL will create a count for the rows in all tables with names that start with Security.</a:t>
            </a:r>
            <a:br>
              <a:rPr lang="en-US" sz="1600" b="0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</a:br>
            <a:endParaRPr lang="en-US" sz="2000" dirty="0"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30855C-B74C-A7B1-513D-701A0130E5FB}"/>
              </a:ext>
            </a:extLst>
          </p:cNvPr>
          <p:cNvSpPr/>
          <p:nvPr/>
        </p:nvSpPr>
        <p:spPr>
          <a:xfrm>
            <a:off x="668495" y="1524769"/>
            <a:ext cx="10849510" cy="174249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0070C0"/>
                </a:solidFill>
              </a:rPr>
              <a:t>// Query 1 </a:t>
            </a:r>
            <a:r>
              <a:rPr lang="en-US" dirty="0">
                <a:solidFill>
                  <a:srgbClr val="0070C0"/>
                </a:solidFill>
              </a:rPr>
              <a:t>return all rows of SecurityEvent and all rows of SigninLogs</a:t>
            </a:r>
            <a:endParaRPr lang="en-IN" dirty="0">
              <a:solidFill>
                <a:srgbClr val="0070C0"/>
              </a:solidFill>
            </a:endParaRPr>
          </a:p>
          <a:p>
            <a:r>
              <a:rPr lang="en-IN" dirty="0">
                <a:solidFill>
                  <a:schemeClr val="bg1"/>
                </a:solidFill>
                <a:highlight>
                  <a:srgbClr val="800000"/>
                </a:highlight>
              </a:rPr>
              <a:t>SecurityEvent | union SigninLogs  </a:t>
            </a:r>
          </a:p>
          <a:p>
            <a:r>
              <a:rPr lang="en-IN" dirty="0">
                <a:solidFill>
                  <a:srgbClr val="0070C0"/>
                </a:solidFill>
              </a:rPr>
              <a:t>// Query 2 </a:t>
            </a:r>
            <a:r>
              <a:rPr lang="en-US" dirty="0">
                <a:solidFill>
                  <a:srgbClr val="0070C0"/>
                </a:solidFill>
              </a:rPr>
              <a:t>return one row and column, which is the count of all rows of SecurityEvent and all rows of SigninLogs</a:t>
            </a:r>
            <a:endParaRPr lang="en-IN" dirty="0">
              <a:solidFill>
                <a:srgbClr val="0070C0"/>
              </a:solidFill>
            </a:endParaRPr>
          </a:p>
          <a:p>
            <a:r>
              <a:rPr lang="en-IN" dirty="0">
                <a:solidFill>
                  <a:schemeClr val="bg1"/>
                </a:solidFill>
                <a:highlight>
                  <a:srgbClr val="800000"/>
                </a:highlight>
              </a:rPr>
              <a:t>SecurityEvent | union SigninLogs  | summarize count() | project count_</a:t>
            </a:r>
          </a:p>
          <a:p>
            <a:r>
              <a:rPr lang="en-IN" dirty="0">
                <a:solidFill>
                  <a:srgbClr val="0070C0"/>
                </a:solidFill>
              </a:rPr>
              <a:t>// Query 3 </a:t>
            </a:r>
            <a:r>
              <a:rPr lang="en-US" dirty="0">
                <a:solidFill>
                  <a:srgbClr val="0070C0"/>
                </a:solidFill>
              </a:rPr>
              <a:t>return all rows of SecurityEvent and one row for SigninLogs.</a:t>
            </a:r>
            <a:endParaRPr lang="en-IN" dirty="0">
              <a:solidFill>
                <a:srgbClr val="0070C0"/>
              </a:solidFill>
            </a:endParaRPr>
          </a:p>
          <a:p>
            <a:r>
              <a:rPr lang="en-IN" dirty="0">
                <a:solidFill>
                  <a:schemeClr val="bg1"/>
                </a:solidFill>
                <a:highlight>
                  <a:srgbClr val="800000"/>
                </a:highlight>
              </a:rPr>
              <a:t>SecurityEvent | union (SigninLogs | summarize count()| project count_)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867163-AF42-19F5-91AC-427FFFD33E2C}"/>
              </a:ext>
            </a:extLst>
          </p:cNvPr>
          <p:cNvSpPr/>
          <p:nvPr/>
        </p:nvSpPr>
        <p:spPr>
          <a:xfrm>
            <a:off x="668495" y="4595205"/>
            <a:ext cx="10849510" cy="10565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0070C0"/>
                </a:solidFill>
              </a:rPr>
              <a:t>// Query 1 </a:t>
            </a:r>
            <a:r>
              <a:rPr lang="en-US" dirty="0">
                <a:solidFill>
                  <a:srgbClr val="0070C0"/>
                </a:solidFill>
              </a:rPr>
              <a:t>return all rows of SecurityEvent and all rows of SigninLogs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highlight>
                  <a:srgbClr val="800000"/>
                </a:highlight>
              </a:rPr>
              <a:t>union Security* | summarize count() by Type</a:t>
            </a:r>
            <a:endParaRPr lang="en-IN" dirty="0">
              <a:solidFill>
                <a:schemeClr val="bg1"/>
              </a:solidFill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51774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343155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Join</a:t>
            </a:r>
            <a:endParaRPr lang="en-IN" sz="36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472611"/>
            <a:ext cx="11840851" cy="61167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The join operator merges the rows of two tables to form a new table by matching the specified columns' values from each table.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AFD1C9-AD7A-FABE-8018-FEF053B48C85}"/>
              </a:ext>
            </a:extLst>
          </p:cNvPr>
          <p:cNvSpPr/>
          <p:nvPr/>
        </p:nvSpPr>
        <p:spPr>
          <a:xfrm>
            <a:off x="668495" y="4119938"/>
            <a:ext cx="10849510" cy="260860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>
                <a:solidFill>
                  <a:srgbClr val="0070C0"/>
                </a:solidFill>
              </a:rPr>
              <a:t>SecurityEvent </a:t>
            </a:r>
          </a:p>
          <a:p>
            <a:r>
              <a:rPr lang="en-IN" sz="1600" dirty="0">
                <a:solidFill>
                  <a:srgbClr val="0070C0"/>
                </a:solidFill>
              </a:rPr>
              <a:t>| where EventID == "4624" </a:t>
            </a:r>
          </a:p>
          <a:p>
            <a:r>
              <a:rPr lang="en-IN" sz="1600" dirty="0">
                <a:solidFill>
                  <a:srgbClr val="0070C0"/>
                </a:solidFill>
              </a:rPr>
              <a:t>| summarize LogOnCount=count() by EventID, Account </a:t>
            </a:r>
          </a:p>
          <a:p>
            <a:r>
              <a:rPr lang="en-IN" sz="1600" dirty="0">
                <a:solidFill>
                  <a:srgbClr val="0070C0"/>
                </a:solidFill>
              </a:rPr>
              <a:t>| project LogOnCount, Account </a:t>
            </a:r>
          </a:p>
          <a:p>
            <a:r>
              <a:rPr lang="en-IN" sz="1600" dirty="0">
                <a:solidFill>
                  <a:srgbClr val="0070C0"/>
                </a:solidFill>
              </a:rPr>
              <a:t>| join kind = inner (</a:t>
            </a:r>
          </a:p>
          <a:p>
            <a:r>
              <a:rPr lang="en-IN" sz="1600" dirty="0">
                <a:solidFill>
                  <a:srgbClr val="0070C0"/>
                </a:solidFill>
              </a:rPr>
              <a:t>     SecurityEvent </a:t>
            </a:r>
          </a:p>
          <a:p>
            <a:r>
              <a:rPr lang="en-IN" sz="1600" dirty="0">
                <a:solidFill>
                  <a:srgbClr val="0070C0"/>
                </a:solidFill>
              </a:rPr>
              <a:t>     | where EventID == "4634" </a:t>
            </a:r>
          </a:p>
          <a:p>
            <a:r>
              <a:rPr lang="en-IN" sz="1600" dirty="0">
                <a:solidFill>
                  <a:srgbClr val="0070C0"/>
                </a:solidFill>
              </a:rPr>
              <a:t>     | summarize LogOffCount=count() by EventID, Account </a:t>
            </a:r>
          </a:p>
          <a:p>
            <a:r>
              <a:rPr lang="en-IN" sz="1600" dirty="0">
                <a:solidFill>
                  <a:srgbClr val="0070C0"/>
                </a:solidFill>
              </a:rPr>
              <a:t>     | project LogOffCount, Account </a:t>
            </a:r>
          </a:p>
          <a:p>
            <a:r>
              <a:rPr lang="en-IN" sz="1600" dirty="0">
                <a:solidFill>
                  <a:srgbClr val="0070C0"/>
                </a:solidFill>
              </a:rPr>
              <a:t>) on Account</a:t>
            </a:r>
            <a:endParaRPr lang="en-IN" sz="1600" dirty="0">
              <a:solidFill>
                <a:schemeClr val="bg1"/>
              </a:solidFill>
              <a:highlight>
                <a:srgbClr val="8000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5BC120-06EA-8960-3939-33C2E07DE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136" y="1090502"/>
            <a:ext cx="5667530" cy="274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992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343155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Extract data from unstructured string fields</a:t>
            </a:r>
            <a:endParaRPr lang="en-IN" sz="36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472611"/>
            <a:ext cx="11840851" cy="61167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cs typeface="Segoe UI" panose="020B0502040204020203" pitchFamily="34" charset="0"/>
              </a:rPr>
              <a:t>Security log data is often contained in unstructured string fields and requires parsing to extract data.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cs typeface="Segoe UI" panose="020B0502040204020203" pitchFamily="34" charset="0"/>
              </a:rPr>
              <a:t>There are multiple ways of pulling information from string fields in KQL.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cs typeface="Segoe UI" panose="020B0502040204020203" pitchFamily="34" charset="0"/>
              </a:rPr>
              <a:t>The two primary operators used are extract and parse.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cs typeface="Segoe UI" panose="020B0502040204020203" pitchFamily="34" charset="0"/>
              </a:rPr>
              <a:t>extract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Extract gets a match for a regular expression from a text string.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cs typeface="Segoe UI" panose="020B0502040204020203" pitchFamily="34" charset="0"/>
              </a:rPr>
              <a:t>You may optionally convert the extracted substring to the indicated type.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cs typeface="Segoe UI" panose="020B0502040204020203" pitchFamily="34" charset="0"/>
            </a:endParaRPr>
          </a:p>
          <a:p>
            <a:pPr marL="0" indent="0" algn="l">
              <a:buNone/>
            </a:pPr>
            <a:endParaRPr lang="en-US" sz="1600" b="0" i="0" dirty="0">
              <a:solidFill>
                <a:srgbClr val="171717"/>
              </a:solidFill>
              <a:effectLst/>
              <a:latin typeface="Segoe UI" panose="020B0502040204020203" pitchFamily="34" charset="0"/>
            </a:endParaRPr>
          </a:p>
          <a:p>
            <a:pPr marL="0" indent="0" algn="l">
              <a:buNone/>
            </a:pPr>
            <a:r>
              <a:rPr lang="en-US" sz="1600" b="0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The union operator supports wildcards to union multiple tables. The following KQL will create a count for the rows in all tables with names that start with Security.</a:t>
            </a:r>
            <a:br>
              <a:rPr lang="en-US" sz="1600" b="0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</a:br>
            <a:endParaRPr lang="en-US" sz="2000" dirty="0"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867163-AF42-19F5-91AC-427FFFD33E2C}"/>
              </a:ext>
            </a:extLst>
          </p:cNvPr>
          <p:cNvSpPr/>
          <p:nvPr/>
        </p:nvSpPr>
        <p:spPr>
          <a:xfrm>
            <a:off x="668495" y="4595205"/>
            <a:ext cx="10849510" cy="10565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0070C0"/>
                </a:solidFill>
              </a:rPr>
              <a:t>// Query 1 </a:t>
            </a:r>
            <a:r>
              <a:rPr lang="en-US" dirty="0">
                <a:solidFill>
                  <a:srgbClr val="0070C0"/>
                </a:solidFill>
              </a:rPr>
              <a:t>return all rows of SecurityEvent and all rows of SigninLogs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highlight>
                  <a:srgbClr val="800000"/>
                </a:highlight>
              </a:rPr>
              <a:t>union Security* | summarize count() by Type</a:t>
            </a:r>
            <a:endParaRPr lang="en-IN" dirty="0">
              <a:solidFill>
                <a:schemeClr val="bg1"/>
              </a:solidFill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24085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343155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Parse</a:t>
            </a:r>
            <a:endParaRPr lang="en-IN" sz="36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472611"/>
            <a:ext cx="11840851" cy="61167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cs typeface="Segoe UI" panose="020B0502040204020203" pitchFamily="34" charset="0"/>
              </a:rPr>
              <a:t>Parse evaluates a string expression and parses its value into one or more calculated columns. The computed columns will have nulls for unsuccessfully parsed strings.</a:t>
            </a:r>
            <a:endParaRPr lang="en-US" sz="2000" dirty="0"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cs typeface="Segoe UI" panose="020B0502040204020203" pitchFamily="34" charset="0"/>
            </a:endParaRPr>
          </a:p>
          <a:p>
            <a:pPr marL="0" indent="0" algn="l">
              <a:buNone/>
            </a:pPr>
            <a:endParaRPr lang="en-US" sz="1600" b="0" i="0" dirty="0">
              <a:solidFill>
                <a:srgbClr val="171717"/>
              </a:solidFill>
              <a:effectLst/>
              <a:latin typeface="Segoe UI" panose="020B0502040204020203" pitchFamily="34" charset="0"/>
            </a:endParaRPr>
          </a:p>
          <a:p>
            <a:pPr marL="0" indent="0" algn="l">
              <a:buNone/>
            </a:pPr>
            <a:r>
              <a:rPr lang="en-US" sz="1600" b="0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The union operator supports wildcards to union multiple tables. The following KQL will create a count for the rows in all tables with names that start with Security.</a:t>
            </a:r>
            <a:br>
              <a:rPr lang="en-US" sz="1600" b="0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</a:br>
            <a:endParaRPr lang="en-US" sz="2000" dirty="0"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867163-AF42-19F5-91AC-427FFFD33E2C}"/>
              </a:ext>
            </a:extLst>
          </p:cNvPr>
          <p:cNvSpPr/>
          <p:nvPr/>
        </p:nvSpPr>
        <p:spPr>
          <a:xfrm>
            <a:off x="668495" y="4595205"/>
            <a:ext cx="10849510" cy="10565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0070C0"/>
                </a:solidFill>
              </a:rPr>
              <a:t>// Query 1 </a:t>
            </a:r>
            <a:r>
              <a:rPr lang="en-US" dirty="0">
                <a:solidFill>
                  <a:srgbClr val="0070C0"/>
                </a:solidFill>
              </a:rPr>
              <a:t>return all rows of SecurityEvent and all rows of SigninLogs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highlight>
                  <a:srgbClr val="800000"/>
                </a:highlight>
              </a:rPr>
              <a:t>union Security* | summarize count() by Type</a:t>
            </a:r>
            <a:endParaRPr lang="en-IN" dirty="0">
              <a:solidFill>
                <a:schemeClr val="bg1"/>
              </a:solidFill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87766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551582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New Software Update Group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8"/>
            <a:ext cx="11840851" cy="2349838"/>
          </a:xfrm>
        </p:spPr>
        <p:txBody>
          <a:bodyPr>
            <a:normAutofit/>
          </a:bodyPr>
          <a:lstStyle/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where </a:t>
            </a:r>
            <a:r>
              <a:rPr lang="en-IN" sz="1800" b="1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EventID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1800" b="1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30219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EventLog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 "</a:t>
            </a:r>
            <a:r>
              <a:rPr lang="en-IN" sz="1800" b="1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ConfigurationManager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</a:t>
            </a:r>
            <a:r>
              <a:rPr lang="en-IN" sz="180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parse_xml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(EventData))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80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extend SoftwareUpdateGroupID = extractjson("$['</a:t>
            </a:r>
            <a:r>
              <a:rPr lang="en-IN" sz="180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extend SoftwareUpdateGroupName = extractjson("$['</a:t>
            </a:r>
            <a:r>
              <a:rPr lang="en-IN" sz="180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']['EventData']['Data'][3]", MyData) 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project Administrator, SoftwareUpdateGroupID, SoftwareUpdateGroupName, TimeGenerated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4790AB-126B-68B4-3F2C-CC9A460A047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11185" y="3641128"/>
            <a:ext cx="6574604" cy="198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979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551582"/>
          </a:xfrm>
        </p:spPr>
        <p:txBody>
          <a:bodyPr>
            <a:noAutofit/>
          </a:bodyPr>
          <a:lstStyle/>
          <a:p>
            <a:r>
              <a:rPr lang="en-US" sz="3200" b="1" cap="none" dirty="0">
                <a:latin typeface="+mn-lt"/>
                <a:cs typeface="Segoe UI" panose="020B0502040204020203" pitchFamily="34" charset="0"/>
              </a:rPr>
              <a:t>Someone removed the Software Update Group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8"/>
            <a:ext cx="11840851" cy="1856679"/>
          </a:xfrm>
        </p:spPr>
        <p:txBody>
          <a:bodyPr>
            <a:normAutofit/>
          </a:bodyPr>
          <a:lstStyle/>
          <a:p>
            <a:pPr marL="0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where </a:t>
            </a:r>
            <a:r>
              <a:rPr lang="en-IN" sz="1800" b="1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EventID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1800" b="1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30221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EventLog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 "</a:t>
            </a:r>
            <a:r>
              <a:rPr lang="en-IN" sz="1800" b="1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ConfigurationManager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</a:t>
            </a:r>
            <a:r>
              <a:rPr lang="en-IN" sz="180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parse_xml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(EventData))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80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extend SoftwareUpdateGroupID = extractjson("$['</a:t>
            </a:r>
            <a:r>
              <a:rPr lang="en-IN" sz="180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project Administrator, SoftwareUpdateGroupID, TimeGenerated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F18B77-FA7B-AACA-E77D-168E07AAC9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21450" y="3219253"/>
            <a:ext cx="7039692" cy="260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5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363248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Software Updates deployment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7"/>
            <a:ext cx="11840851" cy="3849865"/>
          </a:xfrm>
        </p:spPr>
        <p:txBody>
          <a:bodyPr>
            <a:normAutofit/>
          </a:bodyPr>
          <a:lstStyle/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where </a:t>
            </a:r>
            <a:r>
              <a:rPr lang="en-IN" sz="16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EventID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16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30196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EventLog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"</a:t>
            </a:r>
            <a:r>
              <a:rPr lang="en-IN" sz="16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ConfigurationManager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tostring(parse_xml(EventData))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6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SoftwareUpdateGroupID = extractjson("$['</a:t>
            </a:r>
            <a:r>
              <a:rPr lang="en-IN" sz="16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SoftwareUpdateGroupName = extractjson("$['</a:t>
            </a:r>
            <a:r>
              <a:rPr lang="en-IN" sz="16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']['EventData']['Data'][3]", MyData)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DeploymentName = extractjson("$['</a:t>
            </a:r>
            <a:r>
              <a:rPr lang="en-IN" sz="16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']['EventData']['Data'][4]", MyData) 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DeploymentStartTime = extractjson("$['</a:t>
            </a:r>
            <a:r>
              <a:rPr lang="en-IN" sz="16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']['EventData']['Data'][5]", MyData) 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DeploymentDeadLine = extractjson("$['</a:t>
            </a:r>
            <a:r>
              <a:rPr lang="en-IN" sz="16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']['EventData']['Data'][6]", MyData) 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CollectionID = extractjson("$['</a:t>
            </a:r>
            <a:r>
              <a:rPr lang="en-IN" sz="16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']['EventData']['Data'][7]", MyData) 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Featuretype = extractjson("$['</a:t>
            </a:r>
            <a:r>
              <a:rPr lang="en-IN" sz="16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']['EventData']['Data'][8]", MyData) 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where Featuretype == "Software Update"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project Administrator, SoftwareUpdateGroupID, SoftwareUpdateGroupName, DeploymentName, DeploymentStartTime, DeploymentDeadLine, CollectionID, TimeGenerated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11E2AD-BFD3-7C31-92DD-0A940416A7C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23508" y="4719235"/>
            <a:ext cx="7489004" cy="159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592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404800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Packages</a:t>
            </a:r>
            <a:r>
              <a:rPr lang="en-US" sz="3200" b="1" cap="none" dirty="0">
                <a:latin typeface="+mn-lt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534256"/>
            <a:ext cx="11840851" cy="3030877"/>
          </a:xfrm>
        </p:spPr>
        <p:txBody>
          <a:bodyPr>
            <a:noAutofit/>
          </a:bodyPr>
          <a:lstStyle/>
          <a:p>
            <a:pPr marL="0" marR="18529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//New package creation - generic ID for different package types // Package IDs </a:t>
            </a:r>
            <a:endParaRPr lang="en-IN" sz="16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1524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// 0 - classic software package, 5 - Software Update Deployment Package, 4 - Task Sequence </a:t>
            </a:r>
            <a:endParaRPr lang="en-IN" sz="16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1524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b="1" dirty="0">
                <a:solidFill>
                  <a:srgbClr val="00B0F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  <a:endParaRPr lang="en-IN" sz="16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where </a:t>
            </a:r>
            <a:r>
              <a:rPr lang="en-IN" sz="16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EventID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16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30000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EventLog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"</a:t>
            </a:r>
            <a:r>
              <a:rPr lang="en-IN" sz="16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ConfigurationManager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</a:t>
            </a:r>
            <a:r>
              <a:rPr lang="en-IN" sz="16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parse_xml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(EventData))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6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PackageID = extractjson("$['</a:t>
            </a:r>
            <a:r>
              <a:rPr lang="en-IN" sz="16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ContentType = extractjson("$['</a:t>
            </a:r>
            <a:r>
              <a:rPr lang="en-IN" sz="16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']['EventData']['Data'][3]", MyData)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ContentTypeConversion = case(ContentType == 0, "</a:t>
            </a:r>
            <a:r>
              <a:rPr lang="en-IN" sz="16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Package",ContentType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5,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"Software Update Deployment Package",ContentType == 4, "Task Sequence","unknown")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Name = extractjson("$['</a:t>
            </a:r>
            <a:r>
              <a:rPr lang="en-IN" sz="16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']['EventData']['Data'][4]", MyData)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project Administrator, PackageID, ContentType, ContentTypeConversion, Name, TimeGenerated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EE8B9F-8B62-CC24-0C8B-9B6C9379D0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55688" y="4607306"/>
            <a:ext cx="7458182" cy="156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365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551582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Collections </a:t>
            </a:r>
            <a:r>
              <a:rPr lang="en-US" sz="2800" b="1" cap="none" dirty="0">
                <a:latin typeface="+mn-lt"/>
                <a:cs typeface="Segoe UI" panose="020B0502040204020203" pitchFamily="34" charset="0"/>
                <a:sym typeface="Wingdings" panose="05000000000000000000" pitchFamily="2" charset="2"/>
              </a:rPr>
              <a:t>Collection creation </a:t>
            </a:r>
            <a:endParaRPr lang="en-US" sz="28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8"/>
            <a:ext cx="11840851" cy="2473128"/>
          </a:xfrm>
        </p:spPr>
        <p:txBody>
          <a:bodyPr>
            <a:normAutofit/>
          </a:bodyPr>
          <a:lstStyle/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//New Collection in Configuration Manager </a:t>
            </a:r>
            <a:endParaRPr lang="en-IN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where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EventID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30015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EventLog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"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ConfigurationManager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parse_xml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(EventData))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CollectionName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']['EventData']['Data'][3]", MyData) 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CollectionID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project Administrator, CollectionName, CollectionID, TimeGenerated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1560F0-8943-4444-FB91-95F1CEF4A0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55686" y="4452192"/>
            <a:ext cx="7242425" cy="194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918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551582"/>
          </a:xfrm>
        </p:spPr>
        <p:txBody>
          <a:bodyPr>
            <a:noAutofit/>
          </a:bodyPr>
          <a:lstStyle/>
          <a:p>
            <a:r>
              <a:rPr lang="en-US" sz="3200" b="1" cap="none" dirty="0">
                <a:latin typeface="+mn-lt"/>
                <a:cs typeface="Segoe UI" panose="020B0502040204020203" pitchFamily="34" charset="0"/>
              </a:rPr>
              <a:t>Collections </a:t>
            </a:r>
            <a:r>
              <a:rPr lang="en-US" sz="3200" b="1" cap="none" dirty="0">
                <a:latin typeface="+mn-lt"/>
                <a:cs typeface="Segoe UI" panose="020B0502040204020203" pitchFamily="34" charset="0"/>
                <a:sym typeface="Wingdings" panose="05000000000000000000" pitchFamily="2" charset="2"/>
              </a:rPr>
              <a:t>Collection removal  </a:t>
            </a:r>
            <a:endParaRPr lang="en-US" sz="32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8"/>
            <a:ext cx="11840851" cy="2401209"/>
          </a:xfrm>
        </p:spPr>
        <p:txBody>
          <a:bodyPr>
            <a:normAutofit/>
          </a:bodyPr>
          <a:lstStyle/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//Collection removed </a:t>
            </a:r>
            <a:endParaRPr lang="en-IN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where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EventID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30017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EventLog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"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ConfigurationManager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tostring(parse_xml(EventData))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CollectionName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']['EventData']['Data'][3]", MyData) 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CollectionID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project Administrator, CollectionName, CollectionID, TimeGenerated </a:t>
            </a:r>
          </a:p>
          <a:p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68D852-2572-8FE0-0504-E7CA98ED2F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80362" y="4208113"/>
            <a:ext cx="6831458" cy="185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0866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551582"/>
          </a:xfrm>
        </p:spPr>
        <p:txBody>
          <a:bodyPr>
            <a:noAutofit/>
          </a:bodyPr>
          <a:lstStyle/>
          <a:p>
            <a:r>
              <a:rPr lang="en-US" sz="3200" b="1" cap="none" dirty="0">
                <a:latin typeface="+mn-lt"/>
                <a:cs typeface="Segoe UI" panose="020B0502040204020203" pitchFamily="34" charset="0"/>
              </a:rPr>
              <a:t>Collections </a:t>
            </a:r>
            <a:r>
              <a:rPr lang="en-US" sz="3200" b="1" cap="none" dirty="0">
                <a:latin typeface="+mn-lt"/>
                <a:cs typeface="Segoe UI" panose="020B0502040204020203" pitchFamily="34" charset="0"/>
                <a:sym typeface="Wingdings" panose="05000000000000000000" pitchFamily="2" charset="2"/>
              </a:rPr>
              <a:t>Collection change  </a:t>
            </a:r>
            <a:endParaRPr lang="en-US" sz="32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8"/>
            <a:ext cx="11840851" cy="2360113"/>
          </a:xfrm>
        </p:spPr>
        <p:txBody>
          <a:bodyPr>
            <a:normAutofit/>
          </a:bodyPr>
          <a:lstStyle/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//Collection Change in Configuration Manager </a:t>
            </a:r>
            <a:endParaRPr lang="en-IN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where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EventID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30016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EventLog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"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ConfigurationManager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parse_xml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(EventData))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CollectionName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']['EventData']['Data'][3]", MyData) 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CollectionID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project Administrator, CollectionName, CollectionID, TimeGenerated </a:t>
            </a:r>
          </a:p>
          <a:p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6327AC-165F-5224-732E-35454B6E47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401601" y="4378507"/>
            <a:ext cx="7653391" cy="172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819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551582"/>
          </a:xfrm>
        </p:spPr>
        <p:txBody>
          <a:bodyPr>
            <a:noAutofit/>
          </a:bodyPr>
          <a:lstStyle/>
          <a:p>
            <a:r>
              <a:rPr lang="en-US" sz="3200" b="1" cap="none" dirty="0">
                <a:latin typeface="+mn-lt"/>
                <a:cs typeface="Segoe UI" panose="020B0502040204020203" pitchFamily="34" charset="0"/>
              </a:rPr>
              <a:t>Scripts </a:t>
            </a:r>
            <a:r>
              <a:rPr lang="en-US" sz="3200" b="1" cap="none" dirty="0">
                <a:latin typeface="+mn-lt"/>
                <a:cs typeface="Segoe UI" panose="020B0502040204020203" pitchFamily="34" charset="0"/>
                <a:sym typeface="Wingdings" panose="05000000000000000000" pitchFamily="2" charset="2"/>
              </a:rPr>
              <a:t>New Script </a:t>
            </a:r>
            <a:endParaRPr lang="en-US" sz="32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8"/>
            <a:ext cx="11840851" cy="3099852"/>
          </a:xfrm>
        </p:spPr>
        <p:txBody>
          <a:bodyPr>
            <a:normAutofit lnSpcReduction="10000"/>
          </a:bodyPr>
          <a:lstStyle/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//New Script in Configuration Manager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b="1" dirty="0">
                <a:solidFill>
                  <a:srgbClr val="00B05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IN" sz="1800" b="1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ScriptContent</a:t>
            </a:r>
            <a:r>
              <a:rPr lang="en-IN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holds the actual script from the Configuration Manager. You can decode the script.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where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EventID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52500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EventLog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"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ConfigurationManager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parse_xml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(EventData))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ScriptGUID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ScriptContent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']['EventData']['Data'][4]", MyData)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Name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']['EventData']['Data'][5]", MyData)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project Administrator, ScriptGUID, ScriptContent, Name, TimeGenerated </a:t>
            </a:r>
          </a:p>
          <a:p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D6E4F3-F8A4-289C-D4A1-1544B84904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69898" y="4568778"/>
            <a:ext cx="8733032" cy="160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94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348292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Scripts </a:t>
            </a:r>
            <a:r>
              <a:rPr lang="en-US" sz="2800" b="1" cap="none" dirty="0">
                <a:latin typeface="+mn-lt"/>
                <a:cs typeface="Segoe UI" panose="020B0502040204020203" pitchFamily="34" charset="0"/>
                <a:sym typeface="Wingdings" panose="05000000000000000000" pitchFamily="2" charset="2"/>
              </a:rPr>
              <a:t>Script approved </a:t>
            </a:r>
            <a:endParaRPr lang="en-US" sz="28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8"/>
            <a:ext cx="11840851" cy="3336158"/>
          </a:xfrm>
        </p:spPr>
        <p:txBody>
          <a:bodyPr>
            <a:normAutofit/>
          </a:bodyPr>
          <a:lstStyle/>
          <a:p>
            <a:pPr marL="0" marR="12446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IN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//Script approved in Configuration Manager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where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EventID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52501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EventLog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"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ConfigurationManager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parse_xml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(EventData))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ScriptGUID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ScriptContent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']['EventData']['Data'][4]", MyData)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Name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']['EventData']['Data'][5]", MyData)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</a:rPr>
              <a:t>| project Administrator, ScriptGUID, ScriptContent, Name, TimeGenerated </a:t>
            </a:r>
            <a:endParaRPr lang="en-US" sz="1600" dirty="0"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5E31B5-C431-338E-A134-4D252A4CE78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88560" y="4568778"/>
            <a:ext cx="8896564" cy="181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7602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551582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Scripts </a:t>
            </a:r>
            <a:r>
              <a:rPr lang="en-US" sz="2800" b="1" cap="none" dirty="0">
                <a:latin typeface="+mn-lt"/>
                <a:cs typeface="Segoe UI" panose="020B0502040204020203" pitchFamily="34" charset="0"/>
                <a:sym typeface="Wingdings" panose="05000000000000000000" pitchFamily="2" charset="2"/>
              </a:rPr>
              <a:t>Script execution against devices </a:t>
            </a:r>
            <a:endParaRPr lang="en-US" sz="28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8"/>
            <a:ext cx="11840851" cy="3336158"/>
          </a:xfrm>
        </p:spPr>
        <p:txBody>
          <a:bodyPr>
            <a:normAutofit/>
          </a:bodyPr>
          <a:lstStyle/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//Script execution against devices </a:t>
            </a:r>
            <a:endParaRPr lang="en-IN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where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EventID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40806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EventLog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"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ConfigurationManager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parse_xml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(EventData))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ScriptGUID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ScriptContent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']['EventData']['Data'][4]", MyData)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Name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']['EventData']['Data'][5]", MyData)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DeviceCount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']['EventData']['Data'][6]", MyData)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project Administrator, ScriptGUID, ScriptContent, Name, DeviceCount, TimeGenerated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AB523-1C0B-3D92-9F46-6ADD0452A3F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89917" y="4568778"/>
            <a:ext cx="10191108" cy="172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691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551582"/>
          </a:xfrm>
        </p:spPr>
        <p:txBody>
          <a:bodyPr>
            <a:noAutofit/>
          </a:bodyPr>
          <a:lstStyle/>
          <a:p>
            <a:r>
              <a:rPr lang="en-US" sz="3200" b="1" cap="none" dirty="0">
                <a:latin typeface="+mn-lt"/>
                <a:cs typeface="Segoe UI" panose="020B0502040204020203" pitchFamily="34" charset="0"/>
              </a:rPr>
              <a:t>Scripts </a:t>
            </a:r>
            <a:r>
              <a:rPr lang="en-US" sz="3200" b="1" cap="none" dirty="0">
                <a:latin typeface="+mn-lt"/>
                <a:cs typeface="Segoe UI" panose="020B0502040204020203" pitchFamily="34" charset="0"/>
                <a:sym typeface="Wingdings" panose="05000000000000000000" pitchFamily="2" charset="2"/>
              </a:rPr>
              <a:t>Script execution against Collection </a:t>
            </a:r>
            <a:endParaRPr lang="en-US" sz="32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8"/>
            <a:ext cx="11840851" cy="3336158"/>
          </a:xfrm>
        </p:spPr>
        <p:txBody>
          <a:bodyPr>
            <a:normAutofit lnSpcReduction="10000"/>
          </a:bodyPr>
          <a:lstStyle/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//Script execution against Collection </a:t>
            </a:r>
            <a:endParaRPr lang="en-IN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where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EventID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40805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EventLog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"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ConfigurationManager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parse_xml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(EventData))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ScriptGUID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ScriptContent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']['EventData']['Data'][4]", MyData)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Name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']['EventData']['Data'][5]", MyData)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Collection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']['EventData']['Data'][6]", MyData)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CollectionID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']['EventData']['Data'][7]", MyData) </a:t>
            </a:r>
          </a:p>
          <a:p>
            <a:pPr marL="0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project Administrator, ScriptGUID, ScriptContent, Name, Collection, CollectionID, TimeGenerated </a:t>
            </a:r>
          </a:p>
          <a:p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81E498-66F4-85A9-E99A-C272A3A921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00191" y="4400378"/>
            <a:ext cx="9667126" cy="202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3465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551582"/>
          </a:xfrm>
        </p:spPr>
        <p:txBody>
          <a:bodyPr>
            <a:noAutofit/>
          </a:bodyPr>
          <a:lstStyle/>
          <a:p>
            <a:r>
              <a:rPr lang="en-US" sz="3200" b="1" cap="none" dirty="0">
                <a:latin typeface="+mn-lt"/>
                <a:cs typeface="Segoe UI" panose="020B0502040204020203" pitchFamily="34" charset="0"/>
              </a:rPr>
              <a:t>Scripts </a:t>
            </a:r>
            <a:r>
              <a:rPr lang="en-US" sz="3200" b="1" cap="none" dirty="0">
                <a:latin typeface="+mn-lt"/>
                <a:cs typeface="Segoe UI" panose="020B0502040204020203" pitchFamily="34" charset="0"/>
                <a:sym typeface="Wingdings" panose="05000000000000000000" pitchFamily="2" charset="2"/>
              </a:rPr>
              <a:t>Script change </a:t>
            </a:r>
            <a:endParaRPr lang="en-US" sz="32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8"/>
            <a:ext cx="11840851" cy="2606692"/>
          </a:xfrm>
        </p:spPr>
        <p:txBody>
          <a:bodyPr>
            <a:normAutofit/>
          </a:bodyPr>
          <a:lstStyle/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//Edit Script in Configuration Manager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where EventID == 52506 and EventLog == "ConfigurationManager"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parse_xml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(EventData))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ScriptGUID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ScriptContent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']['EventData']['Data'][4]", MyData)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Name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']['EventData']['Data'][5]", MyData) </a:t>
            </a:r>
          </a:p>
          <a:p>
            <a:pPr marL="0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project Administrator, ScriptGUID, ScriptContent, Name, TimeGenerated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67D76F-D1E2-55A5-B058-EC75B03AC7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72801" y="4017196"/>
            <a:ext cx="8578065" cy="215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0850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551582"/>
          </a:xfrm>
        </p:spPr>
        <p:txBody>
          <a:bodyPr>
            <a:noAutofit/>
          </a:bodyPr>
          <a:lstStyle/>
          <a:p>
            <a:r>
              <a:rPr lang="en-US" sz="3200" b="1" cap="none" dirty="0">
                <a:latin typeface="+mn-lt"/>
                <a:cs typeface="Segoe UI" panose="020B0502040204020203" pitchFamily="34" charset="0"/>
              </a:rPr>
              <a:t>Security </a:t>
            </a:r>
            <a:r>
              <a:rPr lang="en-US" sz="3200" b="1" cap="none" dirty="0">
                <a:latin typeface="+mn-lt"/>
                <a:cs typeface="Segoe UI" panose="020B0502040204020203" pitchFamily="34" charset="0"/>
                <a:sym typeface="Wingdings" panose="05000000000000000000" pitchFamily="2" charset="2"/>
              </a:rPr>
              <a:t></a:t>
            </a:r>
            <a:r>
              <a:rPr lang="en-US" sz="3200" b="1" cap="none" dirty="0">
                <a:latin typeface="+mn-lt"/>
                <a:cs typeface="Segoe UI" panose="020B0502040204020203" pitchFamily="34" charset="0"/>
              </a:rPr>
              <a:t>New Administrator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8"/>
            <a:ext cx="11840851" cy="2863546"/>
          </a:xfrm>
        </p:spPr>
        <p:txBody>
          <a:bodyPr>
            <a:normAutofit/>
          </a:bodyPr>
          <a:lstStyle/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//Somebody added a new user  / group - EventID 31240 </a:t>
            </a:r>
            <a:endParaRPr lang="en-IN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  <a:endParaRPr lang="en-IN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where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EventID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31240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EventLog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"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ConfigurationManager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parse_xml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(EventData))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UserOrGroup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Roles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']['EventData']['Data'][3]", MyData)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Scopes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']['EventData']['Data'][4]", MyData)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Collections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']['EventData']['Data'][5]", MyData)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project Administrator, UserOrGroup, Roles, Scopes, Collections, TimeGenerated </a:t>
            </a:r>
          </a:p>
          <a:p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AE03D8-0F81-AB6B-B2EE-C4E48AB2059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15948" y="4233413"/>
            <a:ext cx="8886290" cy="179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22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384252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Security </a:t>
            </a:r>
            <a:r>
              <a:rPr lang="en-US" sz="2800" b="1" cap="none" dirty="0">
                <a:latin typeface="+mn-lt"/>
                <a:cs typeface="Segoe UI" panose="020B0502040204020203" pitchFamily="34" charset="0"/>
                <a:sym typeface="Wingdings" panose="05000000000000000000" pitchFamily="2" charset="2"/>
              </a:rPr>
              <a:t></a:t>
            </a:r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Administrator removed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8"/>
            <a:ext cx="11840851" cy="3140949"/>
          </a:xfrm>
        </p:spPr>
        <p:txBody>
          <a:bodyPr>
            <a:normAutofit/>
          </a:bodyPr>
          <a:lstStyle/>
          <a:p>
            <a:pPr marL="79375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//Somebody removed a user or security group </a:t>
            </a:r>
            <a:endParaRPr lang="en-IN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</a:p>
          <a:p>
            <a:pPr marL="79375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where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EventID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31242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EventLog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"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ConfigurationManager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marL="79375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parse_xml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(EventData)) </a:t>
            </a:r>
          </a:p>
          <a:p>
            <a:pPr marL="79375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</a:p>
          <a:p>
            <a:pPr marL="79375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UserOrGroup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 </a:t>
            </a:r>
          </a:p>
          <a:p>
            <a:pPr marL="79375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Roles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']['EventData']['Data'][3]", MyData) </a:t>
            </a:r>
          </a:p>
          <a:p>
            <a:pPr marL="79375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Scopes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']['EventData']['Data'][4]", MyData) </a:t>
            </a:r>
          </a:p>
          <a:p>
            <a:pPr marL="79375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Collections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']['EventData']['Data'][5]", MyData) </a:t>
            </a:r>
          </a:p>
          <a:p>
            <a:pPr marL="79375" marR="12446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project Administrator, UserOrGroup, Roles, Scopes, Collections, TimeGenerated </a:t>
            </a:r>
          </a:p>
          <a:p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DA5C0A-00DF-FDF4-40E9-FF59813847C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57736" y="4376438"/>
            <a:ext cx="8691081" cy="189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2223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551582"/>
          </a:xfrm>
        </p:spPr>
        <p:txBody>
          <a:bodyPr>
            <a:noAutofit/>
          </a:bodyPr>
          <a:lstStyle/>
          <a:p>
            <a:r>
              <a:rPr lang="en-US" sz="3200" b="1" cap="none" dirty="0">
                <a:latin typeface="+mn-lt"/>
                <a:cs typeface="Segoe UI" panose="020B0502040204020203" pitchFamily="34" charset="0"/>
              </a:rPr>
              <a:t>Security </a:t>
            </a:r>
            <a:r>
              <a:rPr lang="en-US" sz="3200" b="1" cap="none" dirty="0">
                <a:latin typeface="+mn-lt"/>
                <a:cs typeface="Segoe UI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en-US" sz="3200" b="1" cap="none" dirty="0">
                <a:latin typeface="+mn-lt"/>
                <a:cs typeface="Segoe UI" panose="020B0502040204020203" pitchFamily="34" charset="0"/>
              </a:rPr>
              <a:t>New security role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8"/>
            <a:ext cx="11840851" cy="2062162"/>
          </a:xfrm>
        </p:spPr>
        <p:txBody>
          <a:bodyPr>
            <a:normAutofit/>
          </a:bodyPr>
          <a:lstStyle/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//New Security Role </a:t>
            </a:r>
            <a:endParaRPr lang="en-IN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</a:p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where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EventID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31200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EventLog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"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ConfigurationManager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parse_xml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(EventData)) </a:t>
            </a:r>
          </a:p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</a:p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SecurityRoleName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</a:t>
            </a:r>
          </a:p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project Administrator, SecurityRoleName, TimeGenerated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6558C6-D282-FAF8-27E9-E725DDE2588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45412" y="3687673"/>
            <a:ext cx="8280115" cy="196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694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384252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Applications </a:t>
            </a:r>
            <a:r>
              <a:rPr lang="en-US" sz="2800" b="1" cap="none" dirty="0">
                <a:latin typeface="+mn-lt"/>
                <a:cs typeface="Segoe UI" panose="020B0502040204020203" pitchFamily="34" charset="0"/>
                <a:sym typeface="Wingdings" panose="05000000000000000000" pitchFamily="2" charset="2"/>
              </a:rPr>
              <a:t> New Application deployment </a:t>
            </a:r>
            <a:endParaRPr lang="en-US" sz="28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8"/>
            <a:ext cx="11840851" cy="2339564"/>
          </a:xfrm>
        </p:spPr>
        <p:txBody>
          <a:bodyPr>
            <a:normAutofit/>
          </a:bodyPr>
          <a:lstStyle/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//New Application deployment - EventID 30226 </a:t>
            </a:r>
            <a:endParaRPr lang="en-IN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where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EventID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30226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EventLog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"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ConfigurationManager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parse_xml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(EventData))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Application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Collection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']['EventData']['Data'][3]", MyData) 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project Administrator, Application, Collection, TimeGenerated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31767A-B49B-0504-D1EC-78B5E994BF4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83076" y="3943938"/>
            <a:ext cx="8598614" cy="204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7928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551582"/>
          </a:xfrm>
        </p:spPr>
        <p:txBody>
          <a:bodyPr>
            <a:noAutofit/>
          </a:bodyPr>
          <a:lstStyle/>
          <a:p>
            <a:r>
              <a:rPr lang="en-US" sz="3200" b="1" cap="none" dirty="0">
                <a:latin typeface="+mn-lt"/>
                <a:cs typeface="Segoe UI" panose="020B0502040204020203" pitchFamily="34" charset="0"/>
              </a:rPr>
              <a:t>Applications </a:t>
            </a:r>
            <a:r>
              <a:rPr lang="en-US" sz="3200" b="1" cap="none" dirty="0">
                <a:latin typeface="+mn-lt"/>
                <a:cs typeface="Segoe UI" panose="020B0502040204020203" pitchFamily="34" charset="0"/>
                <a:sym typeface="Wingdings" panose="05000000000000000000" pitchFamily="2" charset="2"/>
              </a:rPr>
              <a:t> OS deployment  Change in Task Sequence </a:t>
            </a:r>
            <a:endParaRPr lang="en-US" sz="32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8"/>
            <a:ext cx="11840851" cy="2747962"/>
          </a:xfrm>
        </p:spPr>
        <p:txBody>
          <a:bodyPr>
            <a:normAutofit/>
          </a:bodyPr>
          <a:lstStyle/>
          <a:p>
            <a:pPr marL="308610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//Change in Task Sequence </a:t>
            </a:r>
            <a:endParaRPr lang="en-IN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8610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</a:p>
          <a:p>
            <a:pPr marL="308610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where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EventID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30001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EventLog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"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ConfigurationManager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marL="308610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parse_xml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(EventData)) </a:t>
            </a:r>
          </a:p>
          <a:p>
            <a:pPr marL="308610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</a:p>
          <a:p>
            <a:pPr marL="308610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TaskSequenceID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 </a:t>
            </a:r>
          </a:p>
          <a:p>
            <a:pPr marL="308610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TaskSequence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']['EventData']['Data'][3]", MyData)  </a:t>
            </a:r>
          </a:p>
          <a:p>
            <a:pPr marL="308610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project Administrator, TaskSequenceID, TaskSequence, TimeGenerated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839288-D86B-4469-B844-050EFB493C1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36496" y="4504564"/>
            <a:ext cx="9399997" cy="167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3190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551582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Applications </a:t>
            </a:r>
            <a:r>
              <a:rPr lang="en-US" sz="2800" b="1" cap="none" dirty="0">
                <a:latin typeface="+mn-lt"/>
                <a:cs typeface="Segoe UI" panose="020B0502040204020203" pitchFamily="34" charset="0"/>
                <a:sym typeface="Wingdings" panose="05000000000000000000" pitchFamily="2" charset="2"/>
              </a:rPr>
              <a:t> Remote Control  Session start </a:t>
            </a:r>
            <a:endParaRPr lang="en-US" sz="28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8"/>
            <a:ext cx="11840851" cy="2935465"/>
          </a:xfrm>
        </p:spPr>
        <p:txBody>
          <a:bodyPr>
            <a:normAutofit/>
          </a:bodyPr>
          <a:lstStyle/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//Remote Control Start session </a:t>
            </a:r>
            <a:endParaRPr lang="en-IN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where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EventID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30076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EventLog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"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ConfigurationManager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parse_xml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(EventData))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SourceComputer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TargetComputer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']['EventData']['Data'][3]", MyData)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ProcessID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']['EventData']['Data'][4]", MyData) 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ThreadID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']['EventData']['Data'][5]", MyData)  </a:t>
            </a:r>
          </a:p>
          <a:p>
            <a:pPr marL="79375" marR="12446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project Administrator, SourceComputer, TargetComputer, ProcessID, ThreadID, TimeGenerated </a:t>
            </a:r>
          </a:p>
          <a:p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B5226E-3350-4CC9-8201-068CB1DBCC5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62527" y="4017196"/>
            <a:ext cx="8793823" cy="238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599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551582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Applications </a:t>
            </a:r>
            <a:r>
              <a:rPr lang="en-US" sz="2800" b="1" cap="none" dirty="0">
                <a:latin typeface="+mn-lt"/>
                <a:cs typeface="Segoe UI" panose="020B0502040204020203" pitchFamily="34" charset="0"/>
                <a:sym typeface="Wingdings" panose="05000000000000000000" pitchFamily="2" charset="2"/>
              </a:rPr>
              <a:t> Remote Control  Session End </a:t>
            </a:r>
            <a:endParaRPr lang="en-US" sz="28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8"/>
            <a:ext cx="11840851" cy="3336158"/>
          </a:xfrm>
        </p:spPr>
        <p:txBody>
          <a:bodyPr>
            <a:normAutofit lnSpcReduction="10000"/>
          </a:bodyPr>
          <a:lstStyle/>
          <a:p>
            <a:pPr marL="79375" marR="12446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00B05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//Remote Control end session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" marR="12446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" marR="12446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where </a:t>
            </a:r>
            <a:r>
              <a:rPr lang="en-IN" sz="1800" b="1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EventID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1800" b="1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30077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EventLog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 "</a:t>
            </a:r>
            <a:r>
              <a:rPr lang="en-IN" sz="1800" b="1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ConfigurationManager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" marR="12446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</a:t>
            </a:r>
            <a:r>
              <a:rPr lang="en-IN" sz="180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parse_xml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(EventData))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" marR="12446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80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" marR="12446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extend SourceComputer = extractjson("$['</a:t>
            </a:r>
            <a:r>
              <a:rPr lang="en-IN" sz="180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" marR="12446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extend TargetComputer = extractjson("$['</a:t>
            </a:r>
            <a:r>
              <a:rPr lang="en-IN" sz="180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']['EventData']['Data'][3]", MyData)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" marR="12446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extend ProcessID = extractjson("$['</a:t>
            </a:r>
            <a:r>
              <a:rPr lang="en-IN" sz="180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']['EventData']['Data'][4]", MyData) 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" marR="12446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extend ThreadID = extractjson("$['</a:t>
            </a:r>
            <a:r>
              <a:rPr lang="en-IN" sz="180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']['EventData']['Data'][5]", MyData) 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" marR="12446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project Administrator, SourceComputer, TargetComputer, ProcessID, ThreadID, TimeGenerated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4F4807-A63C-5666-6D25-0E2B8AEE534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57045" y="4197139"/>
            <a:ext cx="9420546" cy="232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340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551582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Site Configuration </a:t>
            </a:r>
            <a:r>
              <a:rPr lang="en-US" sz="2800" b="1" cap="none" dirty="0">
                <a:latin typeface="+mn-lt"/>
                <a:cs typeface="Segoe UI" panose="020B0502040204020203" pitchFamily="34" charset="0"/>
                <a:sym typeface="Wingdings" panose="05000000000000000000" pitchFamily="2" charset="2"/>
              </a:rPr>
              <a:t> Client Settings change </a:t>
            </a:r>
            <a:endParaRPr lang="en-US" sz="28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8"/>
            <a:ext cx="11840851" cy="2103259"/>
          </a:xfrm>
        </p:spPr>
        <p:txBody>
          <a:bodyPr>
            <a:normAutofit/>
          </a:bodyPr>
          <a:lstStyle/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//Somebody changed the Client Settings </a:t>
            </a:r>
            <a:endParaRPr lang="en-IN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</a:p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where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EventID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30043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EventLog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"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ConfigurationManager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parse_xml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(EventData)) </a:t>
            </a:r>
          </a:p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</a:p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ClientSettingName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 </a:t>
            </a:r>
          </a:p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project Administrator, ClientSettingName, TimeGenerated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4A8BE5-8611-5A78-13BE-4CE765D834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26915" y="4189290"/>
            <a:ext cx="9677400" cy="219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589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551582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Site Configuration </a:t>
            </a:r>
            <a:r>
              <a:rPr lang="en-US" sz="2800" b="1" cap="none" dirty="0">
                <a:latin typeface="+mn-lt"/>
                <a:cs typeface="Segoe UI" panose="020B0502040204020203" pitchFamily="34" charset="0"/>
                <a:sym typeface="Wingdings" panose="05000000000000000000" pitchFamily="2" charset="2"/>
              </a:rPr>
              <a:t> Hierarchy changes </a:t>
            </a:r>
            <a:endParaRPr lang="en-US" sz="2800" b="1" cap="none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8"/>
            <a:ext cx="11840851" cy="2255884"/>
          </a:xfrm>
        </p:spPr>
        <p:txBody>
          <a:bodyPr>
            <a:normAutofit/>
          </a:bodyPr>
          <a:lstStyle/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//Change in Primary Site Settings </a:t>
            </a:r>
            <a:endParaRPr lang="en-IN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</a:p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where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EventID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30031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EventLog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== "</a:t>
            </a: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ConfigurationManager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MyData = tostring(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parse_xml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(EventData)) </a:t>
            </a:r>
          </a:p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Administrator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']['EventData']['Data'][1]", MyData) </a:t>
            </a:r>
          </a:p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extend SiteName = extractjson("$['</a:t>
            </a:r>
            <a:r>
              <a:rPr lang="en-IN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DataItem</a:t>
            </a: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']['EventData']['Data'][2]", MyData) </a:t>
            </a:r>
          </a:p>
          <a:p>
            <a:pPr marL="79375" marR="6223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| project Administrator, SiteName, TimeGenerated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35A0A8-F517-8325-344F-F19C64CFE8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56379" y="3921078"/>
            <a:ext cx="8300663" cy="210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9891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E1C7-8D41-47C6-AE67-72634466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23" y="129456"/>
            <a:ext cx="11840851" cy="551582"/>
          </a:xfrm>
        </p:spPr>
        <p:txBody>
          <a:bodyPr>
            <a:noAutofit/>
          </a:bodyPr>
          <a:lstStyle/>
          <a:p>
            <a:r>
              <a:rPr lang="en-US" sz="2800" b="1" cap="none" dirty="0">
                <a:latin typeface="+mn-lt"/>
                <a:cs typeface="Segoe UI" panose="020B0502040204020203" pitchFamily="34" charset="0"/>
              </a:rPr>
              <a:t>New Software Update Group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28B2C-F193-4D36-8B46-A24AAC8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25" y="681038"/>
            <a:ext cx="11840851" cy="3336158"/>
          </a:xfrm>
        </p:spPr>
        <p:txBody>
          <a:bodyPr>
            <a:normAutofit/>
          </a:bodyPr>
          <a:lstStyle/>
          <a:p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683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1060</TotalTime>
  <Words>3610</Words>
  <Application>Microsoft Office PowerPoint</Application>
  <PresentationFormat>Widescreen</PresentationFormat>
  <Paragraphs>380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Calibri Light</vt:lpstr>
      <vt:lpstr>Segoe UI</vt:lpstr>
      <vt:lpstr>Times New Roman</vt:lpstr>
      <vt:lpstr>Wingdings</vt:lpstr>
      <vt:lpstr>Office Theme</vt:lpstr>
      <vt:lpstr>Kusto Query Language</vt:lpstr>
      <vt:lpstr>Content</vt:lpstr>
      <vt:lpstr>Introduction</vt:lpstr>
      <vt:lpstr>Let</vt:lpstr>
      <vt:lpstr>Search</vt:lpstr>
      <vt:lpstr>Where</vt:lpstr>
      <vt:lpstr>Extend</vt:lpstr>
      <vt:lpstr>Order operator</vt:lpstr>
      <vt:lpstr>Summarize operator</vt:lpstr>
      <vt:lpstr>Project</vt:lpstr>
      <vt:lpstr>Render</vt:lpstr>
      <vt:lpstr>Union</vt:lpstr>
      <vt:lpstr>Join</vt:lpstr>
      <vt:lpstr>Extract data from unstructured string fields</vt:lpstr>
      <vt:lpstr>Parse</vt:lpstr>
      <vt:lpstr>New Software Update Group </vt:lpstr>
      <vt:lpstr>Someone removed the Software Update Group </vt:lpstr>
      <vt:lpstr>Software Updates deployment </vt:lpstr>
      <vt:lpstr>Packages </vt:lpstr>
      <vt:lpstr>Collections Collection creation </vt:lpstr>
      <vt:lpstr>Collections Collection removal  </vt:lpstr>
      <vt:lpstr>Collections Collection change  </vt:lpstr>
      <vt:lpstr>Scripts New Script </vt:lpstr>
      <vt:lpstr>Scripts Script approved </vt:lpstr>
      <vt:lpstr>Scripts Script execution against devices </vt:lpstr>
      <vt:lpstr>Scripts Script execution against Collection </vt:lpstr>
      <vt:lpstr>Scripts Script change </vt:lpstr>
      <vt:lpstr>Security New Administrator </vt:lpstr>
      <vt:lpstr>Security Administrator removed </vt:lpstr>
      <vt:lpstr>Security  New security role </vt:lpstr>
      <vt:lpstr>Applications  New Application deployment </vt:lpstr>
      <vt:lpstr>Applications  OS deployment  Change in Task Sequence </vt:lpstr>
      <vt:lpstr>Applications  Remote Control  Session start </vt:lpstr>
      <vt:lpstr>Applications  Remote Control  Session End </vt:lpstr>
      <vt:lpstr>Site Configuration  Client Settings change </vt:lpstr>
      <vt:lpstr>Site Configuration  Hierarchy changes </vt:lpstr>
      <vt:lpstr>New Software Update Group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Logs</dc:title>
  <dc:creator>sandeep jadhav</dc:creator>
  <cp:lastModifiedBy>sandeep j0352</cp:lastModifiedBy>
  <cp:revision>143</cp:revision>
  <dcterms:created xsi:type="dcterms:W3CDTF">2022-02-12T07:20:09Z</dcterms:created>
  <dcterms:modified xsi:type="dcterms:W3CDTF">2026-05-01T07:36:11Z</dcterms:modified>
</cp:coreProperties>
</file>